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Bebas Neue" panose="020B0604020202020204" charset="0"/>
      <p:regular r:id="rId11"/>
    </p:embeddedFont>
    <p:embeddedFont>
      <p:font typeface="Bebas Neue Bold" panose="020B0604020202020204" charset="0"/>
      <p:regular r:id="rId12"/>
    </p:embeddedFon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Roboto" panose="020B0604020202020204" charset="0"/>
      <p:regular r:id="rId17"/>
    </p:embeddedFont>
    <p:embeddedFont>
      <p:font typeface="Roboto Bold" panose="020B0604020202020204" charset="0"/>
      <p:regular r:id="rId18"/>
    </p:embeddedFont>
    <p:embeddedFont>
      <p:font typeface="Roboto Condensed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80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5" Type="http://schemas.openxmlformats.org/officeDocument/2006/relationships/image" Target="../media/image2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Relationship Id="rId14" Type="http://schemas.openxmlformats.org/officeDocument/2006/relationships/image" Target="../media/image2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2" Type="http://schemas.openxmlformats.org/officeDocument/2006/relationships/image" Target="../media/image58.pn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png"/><Relationship Id="rId18" Type="http://schemas.openxmlformats.org/officeDocument/2006/relationships/image" Target="../media/image101.png"/><Relationship Id="rId26" Type="http://schemas.openxmlformats.org/officeDocument/2006/relationships/image" Target="../media/image109.png"/><Relationship Id="rId3" Type="http://schemas.openxmlformats.org/officeDocument/2006/relationships/image" Target="../media/image86.png"/><Relationship Id="rId21" Type="http://schemas.openxmlformats.org/officeDocument/2006/relationships/image" Target="../media/image104.png"/><Relationship Id="rId34" Type="http://schemas.openxmlformats.org/officeDocument/2006/relationships/image" Target="../media/image117.png"/><Relationship Id="rId7" Type="http://schemas.openxmlformats.org/officeDocument/2006/relationships/image" Target="../media/image90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5" Type="http://schemas.openxmlformats.org/officeDocument/2006/relationships/image" Target="../media/image108.png"/><Relationship Id="rId33" Type="http://schemas.openxmlformats.org/officeDocument/2006/relationships/image" Target="../media/image116.png"/><Relationship Id="rId2" Type="http://schemas.openxmlformats.org/officeDocument/2006/relationships/image" Target="../media/image85.png"/><Relationship Id="rId16" Type="http://schemas.openxmlformats.org/officeDocument/2006/relationships/image" Target="../media/image99.png"/><Relationship Id="rId20" Type="http://schemas.openxmlformats.org/officeDocument/2006/relationships/image" Target="../media/image103.png"/><Relationship Id="rId29" Type="http://schemas.openxmlformats.org/officeDocument/2006/relationships/image" Target="../media/image1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11" Type="http://schemas.openxmlformats.org/officeDocument/2006/relationships/image" Target="../media/image94.png"/><Relationship Id="rId24" Type="http://schemas.openxmlformats.org/officeDocument/2006/relationships/image" Target="../media/image107.png"/><Relationship Id="rId32" Type="http://schemas.openxmlformats.org/officeDocument/2006/relationships/image" Target="../media/image115.png"/><Relationship Id="rId5" Type="http://schemas.openxmlformats.org/officeDocument/2006/relationships/image" Target="../media/image88.png"/><Relationship Id="rId15" Type="http://schemas.openxmlformats.org/officeDocument/2006/relationships/image" Target="../media/image98.png"/><Relationship Id="rId23" Type="http://schemas.openxmlformats.org/officeDocument/2006/relationships/image" Target="../media/image106.png"/><Relationship Id="rId28" Type="http://schemas.openxmlformats.org/officeDocument/2006/relationships/image" Target="../media/image111.png"/><Relationship Id="rId10" Type="http://schemas.openxmlformats.org/officeDocument/2006/relationships/image" Target="../media/image93.png"/><Relationship Id="rId19" Type="http://schemas.openxmlformats.org/officeDocument/2006/relationships/image" Target="../media/image102.png"/><Relationship Id="rId31" Type="http://schemas.openxmlformats.org/officeDocument/2006/relationships/image" Target="../media/image114.png"/><Relationship Id="rId4" Type="http://schemas.openxmlformats.org/officeDocument/2006/relationships/image" Target="../media/image87.png"/><Relationship Id="rId9" Type="http://schemas.openxmlformats.org/officeDocument/2006/relationships/image" Target="../media/image92.png"/><Relationship Id="rId14" Type="http://schemas.openxmlformats.org/officeDocument/2006/relationships/image" Target="../media/image97.png"/><Relationship Id="rId22" Type="http://schemas.openxmlformats.org/officeDocument/2006/relationships/image" Target="../media/image105.png"/><Relationship Id="rId27" Type="http://schemas.openxmlformats.org/officeDocument/2006/relationships/image" Target="../media/image110.png"/><Relationship Id="rId30" Type="http://schemas.openxmlformats.org/officeDocument/2006/relationships/image" Target="../media/image113.png"/><Relationship Id="rId8" Type="http://schemas.openxmlformats.org/officeDocument/2006/relationships/image" Target="../media/image91.png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9.png"/><Relationship Id="rId18" Type="http://schemas.openxmlformats.org/officeDocument/2006/relationships/image" Target="../media/image134.png"/><Relationship Id="rId26" Type="http://schemas.openxmlformats.org/officeDocument/2006/relationships/image" Target="../media/image142.png"/><Relationship Id="rId21" Type="http://schemas.openxmlformats.org/officeDocument/2006/relationships/image" Target="../media/image137.png"/><Relationship Id="rId34" Type="http://schemas.openxmlformats.org/officeDocument/2006/relationships/image" Target="../media/image150.png"/><Relationship Id="rId7" Type="http://schemas.openxmlformats.org/officeDocument/2006/relationships/image" Target="../media/image123.png"/><Relationship Id="rId12" Type="http://schemas.openxmlformats.org/officeDocument/2006/relationships/image" Target="../media/image128.png"/><Relationship Id="rId17" Type="http://schemas.openxmlformats.org/officeDocument/2006/relationships/image" Target="../media/image133.png"/><Relationship Id="rId25" Type="http://schemas.openxmlformats.org/officeDocument/2006/relationships/image" Target="../media/image141.png"/><Relationship Id="rId33" Type="http://schemas.openxmlformats.org/officeDocument/2006/relationships/image" Target="../media/image149.png"/><Relationship Id="rId38" Type="http://schemas.openxmlformats.org/officeDocument/2006/relationships/image" Target="../media/image154.png"/><Relationship Id="rId2" Type="http://schemas.openxmlformats.org/officeDocument/2006/relationships/image" Target="../media/image118.png"/><Relationship Id="rId16" Type="http://schemas.openxmlformats.org/officeDocument/2006/relationships/image" Target="../media/image132.png"/><Relationship Id="rId20" Type="http://schemas.openxmlformats.org/officeDocument/2006/relationships/image" Target="../media/image136.png"/><Relationship Id="rId29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2.png"/><Relationship Id="rId11" Type="http://schemas.openxmlformats.org/officeDocument/2006/relationships/image" Target="../media/image127.png"/><Relationship Id="rId24" Type="http://schemas.openxmlformats.org/officeDocument/2006/relationships/image" Target="../media/image140.png"/><Relationship Id="rId32" Type="http://schemas.openxmlformats.org/officeDocument/2006/relationships/image" Target="../media/image148.png"/><Relationship Id="rId37" Type="http://schemas.openxmlformats.org/officeDocument/2006/relationships/image" Target="../media/image153.png"/><Relationship Id="rId5" Type="http://schemas.openxmlformats.org/officeDocument/2006/relationships/image" Target="../media/image121.png"/><Relationship Id="rId15" Type="http://schemas.openxmlformats.org/officeDocument/2006/relationships/image" Target="../media/image131.png"/><Relationship Id="rId23" Type="http://schemas.openxmlformats.org/officeDocument/2006/relationships/image" Target="../media/image139.png"/><Relationship Id="rId28" Type="http://schemas.openxmlformats.org/officeDocument/2006/relationships/image" Target="../media/image144.png"/><Relationship Id="rId36" Type="http://schemas.openxmlformats.org/officeDocument/2006/relationships/image" Target="../media/image152.png"/><Relationship Id="rId10" Type="http://schemas.openxmlformats.org/officeDocument/2006/relationships/image" Target="../media/image126.png"/><Relationship Id="rId19" Type="http://schemas.openxmlformats.org/officeDocument/2006/relationships/image" Target="../media/image135.png"/><Relationship Id="rId31" Type="http://schemas.openxmlformats.org/officeDocument/2006/relationships/image" Target="../media/image147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Relationship Id="rId14" Type="http://schemas.openxmlformats.org/officeDocument/2006/relationships/image" Target="../media/image130.png"/><Relationship Id="rId22" Type="http://schemas.openxmlformats.org/officeDocument/2006/relationships/image" Target="../media/image138.png"/><Relationship Id="rId27" Type="http://schemas.openxmlformats.org/officeDocument/2006/relationships/image" Target="../media/image143.png"/><Relationship Id="rId30" Type="http://schemas.openxmlformats.org/officeDocument/2006/relationships/image" Target="../media/image146.png"/><Relationship Id="rId35" Type="http://schemas.openxmlformats.org/officeDocument/2006/relationships/image" Target="../media/image151.png"/><Relationship Id="rId8" Type="http://schemas.openxmlformats.org/officeDocument/2006/relationships/image" Target="../media/image124.png"/><Relationship Id="rId3" Type="http://schemas.openxmlformats.org/officeDocument/2006/relationships/image" Target="../media/image1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9570574" y="5356674"/>
            <a:ext cx="7853340" cy="3858991"/>
          </a:xfrm>
          <a:custGeom>
            <a:avLst/>
            <a:gdLst/>
            <a:ahLst/>
            <a:cxnLst/>
            <a:rect l="l" t="t" r="r" b="b"/>
            <a:pathLst>
              <a:path w="7853340" h="3858991">
                <a:moveTo>
                  <a:pt x="0" y="0"/>
                </a:moveTo>
                <a:lnTo>
                  <a:pt x="7853340" y="0"/>
                </a:lnTo>
                <a:lnTo>
                  <a:pt x="7853340" y="3858991"/>
                </a:lnTo>
                <a:lnTo>
                  <a:pt x="0" y="38589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64086" y="2142668"/>
            <a:ext cx="7475242" cy="41549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754"/>
              </a:lnSpc>
            </a:pPr>
            <a:r>
              <a:rPr lang="en-US" sz="11949" b="1" dirty="0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AI-Powered Smart Vehicle Rental System</a:t>
            </a:r>
          </a:p>
        </p:txBody>
      </p:sp>
      <p:sp>
        <p:nvSpPr>
          <p:cNvPr id="5" name="Freeform 5"/>
          <p:cNvSpPr/>
          <p:nvPr/>
        </p:nvSpPr>
        <p:spPr>
          <a:xfrm>
            <a:off x="645330" y="5990729"/>
            <a:ext cx="1968804" cy="448211"/>
          </a:xfrm>
          <a:custGeom>
            <a:avLst/>
            <a:gdLst/>
            <a:ahLst/>
            <a:cxnLst/>
            <a:rect l="l" t="t" r="r" b="b"/>
            <a:pathLst>
              <a:path w="1968804" h="448211">
                <a:moveTo>
                  <a:pt x="0" y="0"/>
                </a:moveTo>
                <a:lnTo>
                  <a:pt x="1968804" y="0"/>
                </a:lnTo>
                <a:lnTo>
                  <a:pt x="1968804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31520" y="6709444"/>
            <a:ext cx="6236208" cy="10602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87"/>
              </a:lnSpc>
            </a:pPr>
            <a:r>
              <a:rPr lang="en-US" sz="30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Multi-City Web Platform for Vehicle Rental and Management</a:t>
            </a:r>
          </a:p>
        </p:txBody>
      </p:sp>
      <p:sp>
        <p:nvSpPr>
          <p:cNvPr id="8" name="TextBox 8"/>
          <p:cNvSpPr txBox="1"/>
          <p:nvPr/>
        </p:nvSpPr>
        <p:spPr>
          <a:xfrm rot="-1836000">
            <a:off x="14285503" y="1407436"/>
            <a:ext cx="2523744" cy="1013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87"/>
              </a:lnSpc>
            </a:pPr>
            <a:r>
              <a:rPr lang="en-US" sz="8208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Rental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66634B8-4509-46B5-9824-2C99C95DE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6">
                    <a:lumMod val="75000"/>
                  </a:schemeClr>
                </a:solidFill>
              </a:rPr>
              <a:t>Review - 2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72000" y="634055"/>
            <a:ext cx="13508182" cy="9652945"/>
          </a:xfrm>
          <a:custGeom>
            <a:avLst/>
            <a:gdLst/>
            <a:ahLst/>
            <a:cxnLst/>
            <a:rect l="l" t="t" r="r" b="b"/>
            <a:pathLst>
              <a:path w="13508182" h="9652945">
                <a:moveTo>
                  <a:pt x="0" y="0"/>
                </a:moveTo>
                <a:lnTo>
                  <a:pt x="13508182" y="0"/>
                </a:lnTo>
                <a:lnTo>
                  <a:pt x="13508182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8640" y="731009"/>
            <a:ext cx="6126480" cy="1265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332"/>
              </a:lnSpc>
            </a:pPr>
            <a:r>
              <a:rPr lang="en-US" sz="7380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Project Design and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640" y="1546356"/>
            <a:ext cx="7333488" cy="161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167"/>
              </a:lnSpc>
            </a:pPr>
            <a:r>
              <a:rPr lang="en-US" sz="9405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System Overview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3214004"/>
            <a:ext cx="1760986" cy="218640"/>
          </a:xfrm>
          <a:custGeom>
            <a:avLst/>
            <a:gdLst/>
            <a:ahLst/>
            <a:cxnLst/>
            <a:rect l="l" t="t" r="r" b="b"/>
            <a:pathLst>
              <a:path w="1760986" h="218640">
                <a:moveTo>
                  <a:pt x="0" y="0"/>
                </a:moveTo>
                <a:lnTo>
                  <a:pt x="1760986" y="0"/>
                </a:lnTo>
                <a:lnTo>
                  <a:pt x="1760986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66928" y="3818365"/>
            <a:ext cx="5596128" cy="1040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69"/>
              </a:lnSpc>
            </a:pPr>
            <a:r>
              <a:rPr lang="en-US" sz="297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 smarter way to rent vehicles across </a:t>
            </a:r>
            <a:r>
              <a:rPr lang="en-US" sz="2978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multiple cities</a:t>
            </a:r>
            <a:r>
              <a:rPr lang="en-US" sz="297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6928" y="5355641"/>
            <a:ext cx="3712464" cy="40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Discover rental shops by city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66928" y="6038963"/>
            <a:ext cx="5833872" cy="38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Browse vehicles, register, and book with ease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66928" y="6747884"/>
            <a:ext cx="5230368" cy="807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Verified documents submitted in person for staff verification before pickup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6928" y="7900028"/>
            <a:ext cx="4443984" cy="807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Handle returns, overdue charges, and damage fees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491472" y="2365442"/>
            <a:ext cx="3255264" cy="9498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2"/>
              </a:lnSpc>
            </a:pPr>
            <a:r>
              <a:rPr lang="en-US" sz="297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Find the Perfect Ride in Your City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418320" y="3451451"/>
            <a:ext cx="2907792" cy="434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5"/>
              </a:lnSpc>
            </a:pPr>
            <a:r>
              <a:rPr lang="en-US" sz="125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Explore trusted rental shops and a wide range of vehicles, all in one place.</a:t>
            </a:r>
          </a:p>
        </p:txBody>
      </p:sp>
      <p:sp>
        <p:nvSpPr>
          <p:cNvPr id="14" name="Freeform 14"/>
          <p:cNvSpPr/>
          <p:nvPr/>
        </p:nvSpPr>
        <p:spPr>
          <a:xfrm>
            <a:off x="9144000" y="4919394"/>
            <a:ext cx="3051646" cy="655919"/>
          </a:xfrm>
          <a:custGeom>
            <a:avLst/>
            <a:gdLst/>
            <a:ahLst/>
            <a:cxnLst/>
            <a:rect l="l" t="t" r="r" b="b"/>
            <a:pathLst>
              <a:path w="3051646" h="655919">
                <a:moveTo>
                  <a:pt x="0" y="0"/>
                </a:moveTo>
                <a:lnTo>
                  <a:pt x="3051646" y="0"/>
                </a:lnTo>
                <a:lnTo>
                  <a:pt x="305164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2252960" y="4943290"/>
            <a:ext cx="731520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Select Shop</a:t>
            </a:r>
          </a:p>
        </p:txBody>
      </p:sp>
      <p:sp>
        <p:nvSpPr>
          <p:cNvPr id="16" name="Freeform 16"/>
          <p:cNvSpPr/>
          <p:nvPr/>
        </p:nvSpPr>
        <p:spPr>
          <a:xfrm>
            <a:off x="11965952" y="5138034"/>
            <a:ext cx="3500096" cy="655919"/>
          </a:xfrm>
          <a:custGeom>
            <a:avLst/>
            <a:gdLst/>
            <a:ahLst/>
            <a:cxnLst/>
            <a:rect l="l" t="t" r="r" b="b"/>
            <a:pathLst>
              <a:path w="3500096" h="655919">
                <a:moveTo>
                  <a:pt x="0" y="0"/>
                </a:moveTo>
                <a:lnTo>
                  <a:pt x="3500096" y="0"/>
                </a:lnTo>
                <a:lnTo>
                  <a:pt x="350009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5455110" y="5138034"/>
            <a:ext cx="1750048" cy="655919"/>
          </a:xfrm>
          <a:custGeom>
            <a:avLst/>
            <a:gdLst/>
            <a:ahLst/>
            <a:cxnLst/>
            <a:rect l="l" t="t" r="r" b="b"/>
            <a:pathLst>
              <a:path w="1750048" h="655919">
                <a:moveTo>
                  <a:pt x="0" y="0"/>
                </a:moveTo>
                <a:lnTo>
                  <a:pt x="1750048" y="0"/>
                </a:lnTo>
                <a:lnTo>
                  <a:pt x="175004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144000" y="5990729"/>
            <a:ext cx="1750048" cy="1082267"/>
          </a:xfrm>
          <a:custGeom>
            <a:avLst/>
            <a:gdLst/>
            <a:ahLst/>
            <a:cxnLst/>
            <a:rect l="l" t="t" r="r" b="b"/>
            <a:pathLst>
              <a:path w="1750048" h="1082267">
                <a:moveTo>
                  <a:pt x="0" y="0"/>
                </a:moveTo>
                <a:lnTo>
                  <a:pt x="1750048" y="0"/>
                </a:lnTo>
                <a:lnTo>
                  <a:pt x="175004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101866" y="6209369"/>
            <a:ext cx="1531292" cy="863627"/>
          </a:xfrm>
          <a:custGeom>
            <a:avLst/>
            <a:gdLst/>
            <a:ahLst/>
            <a:cxnLst/>
            <a:rect l="l" t="t" r="r" b="b"/>
            <a:pathLst>
              <a:path w="1531292" h="863627">
                <a:moveTo>
                  <a:pt x="0" y="0"/>
                </a:moveTo>
                <a:lnTo>
                  <a:pt x="1531292" y="0"/>
                </a:lnTo>
                <a:lnTo>
                  <a:pt x="153129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3059732" y="6428009"/>
            <a:ext cx="1750048" cy="863627"/>
          </a:xfrm>
          <a:custGeom>
            <a:avLst/>
            <a:gdLst/>
            <a:ahLst/>
            <a:cxnLst/>
            <a:rect l="l" t="t" r="r" b="b"/>
            <a:pathLst>
              <a:path w="1750048" h="863627">
                <a:moveTo>
                  <a:pt x="0" y="0"/>
                </a:moveTo>
                <a:lnTo>
                  <a:pt x="1750048" y="0"/>
                </a:lnTo>
                <a:lnTo>
                  <a:pt x="175004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017598" y="6428009"/>
            <a:ext cx="1968804" cy="1082267"/>
          </a:xfrm>
          <a:custGeom>
            <a:avLst/>
            <a:gdLst/>
            <a:ahLst/>
            <a:cxnLst/>
            <a:rect l="l" t="t" r="r" b="b"/>
            <a:pathLst>
              <a:path w="1968804" h="1082267">
                <a:moveTo>
                  <a:pt x="0" y="0"/>
                </a:moveTo>
                <a:lnTo>
                  <a:pt x="1968804" y="0"/>
                </a:lnTo>
                <a:lnTo>
                  <a:pt x="196880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4996160" y="7760865"/>
            <a:ext cx="1335024" cy="16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41"/>
              </a:lnSpc>
            </a:pPr>
            <a:r>
              <a:rPr lang="en-US" sz="958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Roomy for larger groups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3844016" y="1352064"/>
            <a:ext cx="329184" cy="168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41"/>
              </a:lnSpc>
            </a:pPr>
            <a:r>
              <a:rPr lang="en-US" sz="9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Home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4447520" y="1366372"/>
            <a:ext cx="438912" cy="149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6"/>
              </a:lnSpc>
            </a:pPr>
            <a:r>
              <a:rPr lang="en-US" sz="9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Vehicles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197328" y="1366372"/>
            <a:ext cx="329184" cy="1491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6"/>
              </a:lnSpc>
            </a:pPr>
            <a:r>
              <a:rPr lang="en-US" sz="90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Shops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837408" y="1342498"/>
            <a:ext cx="566928" cy="1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92"/>
              </a:lnSpc>
            </a:pPr>
            <a:r>
              <a:rPr lang="en-US" sz="10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Bookings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6623792" y="1342840"/>
            <a:ext cx="749808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529"/>
              </a:lnSpc>
            </a:pPr>
            <a:r>
              <a:rPr lang="en-US" sz="109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My Account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9564624" y="1345005"/>
            <a:ext cx="1719072" cy="244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415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Vehicle Rental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6056864" y="5377344"/>
            <a:ext cx="512064" cy="234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08"/>
              </a:lnSpc>
            </a:pPr>
            <a:r>
              <a:rPr lang="en-US" sz="129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Search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326880" y="4860652"/>
            <a:ext cx="640080" cy="1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2"/>
              </a:lnSpc>
            </a:pPr>
            <a:r>
              <a:rPr lang="en-US" sz="1065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Select City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9436608" y="5210410"/>
            <a:ext cx="640080" cy="1873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92"/>
              </a:lnSpc>
            </a:pPr>
            <a:r>
              <a:rPr lang="en-US" sz="1065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Select City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344400" y="5323909"/>
            <a:ext cx="731520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Select Shop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272016" y="5704528"/>
            <a:ext cx="1170432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Popular Vehicles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198864" y="7134421"/>
            <a:ext cx="292608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SUV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198864" y="7398995"/>
            <a:ext cx="1078992" cy="1402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2"/>
              </a:lnSpc>
            </a:pPr>
            <a:r>
              <a:rPr lang="en-US" sz="823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Spacious and powerful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1009376" y="7278439"/>
            <a:ext cx="420624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Sedan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1009376" y="7507369"/>
            <a:ext cx="1243584" cy="149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8"/>
              </a:lnSpc>
            </a:pPr>
            <a:r>
              <a:rPr lang="en-US" sz="877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Comfortable and reliable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2966192" y="7391596"/>
            <a:ext cx="731520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Hatchback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966192" y="7616505"/>
            <a:ext cx="1170432" cy="168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3"/>
              </a:lnSpc>
            </a:pPr>
            <a:r>
              <a:rPr lang="en-US" sz="931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Compact and efficient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4996160" y="7494466"/>
            <a:ext cx="292608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>
                <a:solidFill>
                  <a:srgbClr val="001524"/>
                </a:solidFill>
                <a:latin typeface="Roboto"/>
                <a:ea typeface="Roboto"/>
                <a:cs typeface="Roboto"/>
                <a:sym typeface="Roboto"/>
              </a:rPr>
              <a:t>Van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3504" y="773631"/>
            <a:ext cx="8065008" cy="20783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89"/>
              </a:lnSpc>
            </a:pPr>
            <a:r>
              <a:rPr lang="en-US" sz="8409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Methodology and Technical Soundness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995365"/>
            <a:ext cx="1760986" cy="229572"/>
          </a:xfrm>
          <a:custGeom>
            <a:avLst/>
            <a:gdLst/>
            <a:ahLst/>
            <a:cxnLst/>
            <a:rect l="l" t="t" r="r" b="b"/>
            <a:pathLst>
              <a:path w="1760986" h="229572">
                <a:moveTo>
                  <a:pt x="0" y="0"/>
                </a:moveTo>
                <a:lnTo>
                  <a:pt x="1760986" y="0"/>
                </a:lnTo>
                <a:lnTo>
                  <a:pt x="1760986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08086" y="2995365"/>
            <a:ext cx="5239206" cy="4514911"/>
          </a:xfrm>
          <a:custGeom>
            <a:avLst/>
            <a:gdLst/>
            <a:ahLst/>
            <a:cxnLst/>
            <a:rect l="l" t="t" r="r" b="b"/>
            <a:pathLst>
              <a:path w="5239206" h="4514911">
                <a:moveTo>
                  <a:pt x="0" y="0"/>
                </a:moveTo>
                <a:lnTo>
                  <a:pt x="5239206" y="0"/>
                </a:lnTo>
                <a:lnTo>
                  <a:pt x="5239206" y="4514910"/>
                </a:lnTo>
                <a:lnTo>
                  <a:pt x="0" y="45149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0664354" y="3421712"/>
            <a:ext cx="4145426" cy="4514911"/>
          </a:xfrm>
          <a:custGeom>
            <a:avLst/>
            <a:gdLst/>
            <a:ahLst/>
            <a:cxnLst/>
            <a:rect l="l" t="t" r="r" b="b"/>
            <a:pathLst>
              <a:path w="4145426" h="4514911">
                <a:moveTo>
                  <a:pt x="0" y="0"/>
                </a:moveTo>
                <a:lnTo>
                  <a:pt x="4145426" y="0"/>
                </a:lnTo>
                <a:lnTo>
                  <a:pt x="4145426" y="4514911"/>
                </a:lnTo>
                <a:lnTo>
                  <a:pt x="0" y="45149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015216" y="5213691"/>
            <a:ext cx="1499616" cy="434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75"/>
              </a:lnSpc>
            </a:pPr>
            <a:r>
              <a:rPr lang="en-US" sz="2978" b="1" spc="-59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API GATEWAY</a:t>
            </a:r>
          </a:p>
        </p:txBody>
      </p:sp>
      <p:sp>
        <p:nvSpPr>
          <p:cNvPr id="8" name="Freeform 8"/>
          <p:cNvSpPr/>
          <p:nvPr/>
        </p:nvSpPr>
        <p:spPr>
          <a:xfrm>
            <a:off x="11528440" y="1071335"/>
            <a:ext cx="2406316" cy="2361309"/>
          </a:xfrm>
          <a:custGeom>
            <a:avLst/>
            <a:gdLst/>
            <a:ahLst/>
            <a:cxnLst/>
            <a:rect l="l" t="t" r="r" b="b"/>
            <a:pathLst>
              <a:path w="2406316" h="2361309">
                <a:moveTo>
                  <a:pt x="0" y="0"/>
                </a:moveTo>
                <a:lnTo>
                  <a:pt x="2406316" y="0"/>
                </a:lnTo>
                <a:lnTo>
                  <a:pt x="2406316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2403464" y="1497682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015216" y="2393289"/>
            <a:ext cx="1554480" cy="59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1819" b="1" spc="-3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USER MANAGEMENT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31464" y="3421712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487732" y="3848060"/>
            <a:ext cx="1093780" cy="874559"/>
          </a:xfrm>
          <a:custGeom>
            <a:avLst/>
            <a:gdLst/>
            <a:ahLst/>
            <a:cxnLst/>
            <a:rect l="l" t="t" r="r" b="b"/>
            <a:pathLst>
              <a:path w="1093780" h="874559">
                <a:moveTo>
                  <a:pt x="0" y="0"/>
                </a:moveTo>
                <a:lnTo>
                  <a:pt x="1093780" y="0"/>
                </a:lnTo>
                <a:lnTo>
                  <a:pt x="109378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8357616" y="4646142"/>
            <a:ext cx="1261872" cy="595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1819" b="1" spc="-3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VEHICLE INVENTORY</a:t>
            </a:r>
          </a:p>
        </p:txBody>
      </p:sp>
      <p:sp>
        <p:nvSpPr>
          <p:cNvPr id="14" name="Freeform 14"/>
          <p:cNvSpPr/>
          <p:nvPr/>
        </p:nvSpPr>
        <p:spPr>
          <a:xfrm>
            <a:off x="15017598" y="3421712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673866" y="3848060"/>
            <a:ext cx="1093780" cy="874559"/>
          </a:xfrm>
          <a:custGeom>
            <a:avLst/>
            <a:gdLst/>
            <a:ahLst/>
            <a:cxnLst/>
            <a:rect l="l" t="t" r="r" b="b"/>
            <a:pathLst>
              <a:path w="1093780" h="874559">
                <a:moveTo>
                  <a:pt x="0" y="0"/>
                </a:moveTo>
                <a:lnTo>
                  <a:pt x="1093780" y="0"/>
                </a:lnTo>
                <a:lnTo>
                  <a:pt x="1093780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15617952" y="4793641"/>
            <a:ext cx="1207008" cy="31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4"/>
              </a:lnSpc>
            </a:pPr>
            <a:r>
              <a:rPr lang="en-US" sz="1857" b="1" spc="-3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PAYMENTS</a:t>
            </a:r>
          </a:p>
        </p:txBody>
      </p:sp>
      <p:sp>
        <p:nvSpPr>
          <p:cNvPr id="17" name="Freeform 17"/>
          <p:cNvSpPr/>
          <p:nvPr/>
        </p:nvSpPr>
        <p:spPr>
          <a:xfrm>
            <a:off x="7831464" y="6635716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8706488" y="7062064"/>
            <a:ext cx="875024" cy="1082267"/>
          </a:xfrm>
          <a:custGeom>
            <a:avLst/>
            <a:gdLst/>
            <a:ahLst/>
            <a:cxnLst/>
            <a:rect l="l" t="t" r="r" b="b"/>
            <a:pathLst>
              <a:path w="875024" h="1082267">
                <a:moveTo>
                  <a:pt x="0" y="0"/>
                </a:moveTo>
                <a:lnTo>
                  <a:pt x="875024" y="0"/>
                </a:lnTo>
                <a:lnTo>
                  <a:pt x="875024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8193024" y="8147203"/>
            <a:ext cx="1792224" cy="31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4"/>
              </a:lnSpc>
            </a:pPr>
            <a:r>
              <a:rPr lang="en-US" sz="1857" b="1" spc="-3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NOTIFICATIONS</a:t>
            </a:r>
          </a:p>
        </p:txBody>
      </p:sp>
      <p:sp>
        <p:nvSpPr>
          <p:cNvPr id="20" name="Freeform 20"/>
          <p:cNvSpPr/>
          <p:nvPr/>
        </p:nvSpPr>
        <p:spPr>
          <a:xfrm>
            <a:off x="15017598" y="6635716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5673866" y="7062064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5599664" y="8147203"/>
            <a:ext cx="1261872" cy="311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14"/>
              </a:lnSpc>
            </a:pPr>
            <a:r>
              <a:rPr lang="en-US" sz="1857" b="1" spc="-37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BOOKINGS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3504" y="3555151"/>
            <a:ext cx="5705856" cy="6142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Microservices architecture for </a:t>
            </a:r>
            <a:r>
              <a:rPr lang="en-US" sz="2248" spc="-44">
                <a:solidFill>
                  <a:srgbClr val="FF7A00"/>
                </a:solidFill>
                <a:latin typeface="Roboto"/>
                <a:ea typeface="Roboto"/>
                <a:cs typeface="Roboto"/>
                <a:sym typeface="Roboto"/>
              </a:rPr>
              <a:t>modularity</a:t>
            </a: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248" spc="-44">
                <a:solidFill>
                  <a:srgbClr val="FF7A00"/>
                </a:solidFill>
                <a:latin typeface="Roboto"/>
                <a:ea typeface="Roboto"/>
                <a:cs typeface="Roboto"/>
                <a:sym typeface="Roboto"/>
              </a:rPr>
              <a:t>scalability</a:t>
            </a:r>
          </a:p>
          <a:p>
            <a:pPr algn="l">
              <a:lnSpc>
                <a:spcPts val="2923"/>
              </a:lnSpc>
            </a:pPr>
            <a:endParaRPr lang="en-US" sz="2248" spc="-44">
              <a:solidFill>
                <a:srgbClr val="FF7A00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923"/>
              </a:lnSpc>
            </a:pP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 discovery with </a:t>
            </a:r>
            <a:r>
              <a:rPr lang="en-US" sz="2248" spc="-44">
                <a:solidFill>
                  <a:srgbClr val="FF7A00"/>
                </a:solidFill>
                <a:latin typeface="Roboto"/>
                <a:ea typeface="Roboto"/>
                <a:cs typeface="Roboto"/>
                <a:sym typeface="Roboto"/>
              </a:rPr>
              <a:t>Eureka Server</a:t>
            </a: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ensures dynamic registration and fault tolerance</a:t>
            </a:r>
          </a:p>
          <a:p>
            <a:pPr algn="l">
              <a:lnSpc>
                <a:spcPts val="2923"/>
              </a:lnSpc>
            </a:pPr>
            <a:endParaRPr lang="en-US" sz="2248" spc="-4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923"/>
              </a:lnSpc>
            </a:pPr>
            <a:r>
              <a:rPr lang="en-US" sz="2248" spc="-44">
                <a:solidFill>
                  <a:srgbClr val="FF7A00"/>
                </a:solidFill>
                <a:latin typeface="Roboto"/>
                <a:ea typeface="Roboto"/>
                <a:cs typeface="Roboto"/>
                <a:sym typeface="Roboto"/>
              </a:rPr>
              <a:t>API Gateway</a:t>
            </a: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provides unified access and secures every request</a:t>
            </a:r>
          </a:p>
          <a:p>
            <a:pPr algn="l">
              <a:lnSpc>
                <a:spcPts val="2923"/>
              </a:lnSpc>
            </a:pPr>
            <a:endParaRPr lang="en-US" sz="2248" spc="-4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923"/>
              </a:lnSpc>
            </a:pP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Clear separation across </a:t>
            </a:r>
            <a:r>
              <a:rPr lang="en-US" sz="2248" spc="-44">
                <a:solidFill>
                  <a:srgbClr val="FF7A00"/>
                </a:solidFill>
                <a:latin typeface="Roboto"/>
                <a:ea typeface="Roboto"/>
                <a:cs typeface="Roboto"/>
                <a:sym typeface="Roboto"/>
              </a:rPr>
              <a:t>core services</a:t>
            </a: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for focused responsibility</a:t>
            </a:r>
          </a:p>
          <a:p>
            <a:pPr algn="l">
              <a:lnSpc>
                <a:spcPts val="2923"/>
              </a:lnSpc>
            </a:pPr>
            <a:endParaRPr lang="en-US" sz="2248" spc="-4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923"/>
              </a:lnSpc>
            </a:pP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Physical document </a:t>
            </a:r>
            <a:r>
              <a:rPr lang="en-US" sz="2248" spc="-44">
                <a:solidFill>
                  <a:srgbClr val="FF7A00"/>
                </a:solidFill>
                <a:latin typeface="Roboto"/>
                <a:ea typeface="Roboto"/>
                <a:cs typeface="Roboto"/>
                <a:sym typeface="Roboto"/>
              </a:rPr>
              <a:t>verification</a:t>
            </a: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strengthens security and trust</a:t>
            </a:r>
          </a:p>
          <a:p>
            <a:pPr algn="l">
              <a:lnSpc>
                <a:spcPts val="2923"/>
              </a:lnSpc>
            </a:pPr>
            <a:endParaRPr lang="en-US" sz="2248" spc="-44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algn="l">
              <a:lnSpc>
                <a:spcPts val="2923"/>
              </a:lnSpc>
            </a:pP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Robust backend with </a:t>
            </a:r>
            <a:r>
              <a:rPr lang="en-US" sz="2248" spc="-44">
                <a:solidFill>
                  <a:srgbClr val="FF7A00"/>
                </a:solidFill>
                <a:latin typeface="Roboto"/>
                <a:ea typeface="Roboto"/>
                <a:cs typeface="Roboto"/>
                <a:sym typeface="Roboto"/>
              </a:rPr>
              <a:t>Spring Boot</a:t>
            </a: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-US" sz="2248" spc="-44">
                <a:solidFill>
                  <a:srgbClr val="FF7A00"/>
                </a:solidFill>
                <a:latin typeface="Roboto"/>
                <a:ea typeface="Roboto"/>
                <a:cs typeface="Roboto"/>
                <a:sym typeface="Roboto"/>
              </a:rPr>
              <a:t>FastAPI</a:t>
            </a:r>
            <a:r>
              <a:rPr lang="en-US" sz="2248" spc="-4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for AI components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622220" y="0"/>
            <a:ext cx="5665780" cy="9652945"/>
          </a:xfrm>
          <a:custGeom>
            <a:avLst/>
            <a:gdLst/>
            <a:ahLst/>
            <a:cxnLst/>
            <a:rect l="l" t="t" r="r" b="b"/>
            <a:pathLst>
              <a:path w="5665780" h="9652945">
                <a:moveTo>
                  <a:pt x="0" y="0"/>
                </a:moveTo>
                <a:lnTo>
                  <a:pt x="5665780" y="0"/>
                </a:lnTo>
                <a:lnTo>
                  <a:pt x="5665780" y="9652945"/>
                </a:lnTo>
                <a:lnTo>
                  <a:pt x="0" y="96529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85216" y="558017"/>
            <a:ext cx="9180576" cy="1699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5"/>
              </a:lnSpc>
            </a:pPr>
            <a:r>
              <a:rPr lang="en-US" sz="5986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MICROSERVICES ARCHITECTURE AND SERVICES</a:t>
            </a:r>
          </a:p>
        </p:txBody>
      </p:sp>
      <p:sp>
        <p:nvSpPr>
          <p:cNvPr id="5" name="Freeform 5"/>
          <p:cNvSpPr/>
          <p:nvPr/>
        </p:nvSpPr>
        <p:spPr>
          <a:xfrm>
            <a:off x="426574" y="2350377"/>
            <a:ext cx="1760986" cy="229572"/>
          </a:xfrm>
          <a:custGeom>
            <a:avLst/>
            <a:gdLst/>
            <a:ahLst/>
            <a:cxnLst/>
            <a:rect l="l" t="t" r="r" b="b"/>
            <a:pathLst>
              <a:path w="1760986" h="229572">
                <a:moveTo>
                  <a:pt x="0" y="0"/>
                </a:moveTo>
                <a:lnTo>
                  <a:pt x="1760986" y="0"/>
                </a:lnTo>
                <a:lnTo>
                  <a:pt x="1760986" y="229572"/>
                </a:lnTo>
                <a:lnTo>
                  <a:pt x="0" y="2295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731520" y="2893079"/>
            <a:ext cx="1828800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57">
                <a:solidFill>
                  <a:srgbClr val="FF914D"/>
                </a:solidFill>
                <a:latin typeface="Roboto"/>
                <a:ea typeface="Roboto"/>
                <a:cs typeface="Roboto"/>
                <a:sym typeface="Roboto"/>
              </a:rPr>
              <a:t>Eureka Server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66160" y="2936042"/>
            <a:ext cx="3291840" cy="3553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3"/>
              </a:lnSpc>
            </a:pPr>
            <a:r>
              <a:rPr lang="en-US" sz="2088" spc="-6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Service registry and discovery</a:t>
            </a:r>
          </a:p>
        </p:txBody>
      </p:sp>
      <p:sp>
        <p:nvSpPr>
          <p:cNvPr id="8" name="Freeform 8"/>
          <p:cNvSpPr/>
          <p:nvPr/>
        </p:nvSpPr>
        <p:spPr>
          <a:xfrm>
            <a:off x="6956440" y="2995365"/>
            <a:ext cx="3718852" cy="3006296"/>
          </a:xfrm>
          <a:custGeom>
            <a:avLst/>
            <a:gdLst/>
            <a:ahLst/>
            <a:cxnLst/>
            <a:rect l="l" t="t" r="r" b="b"/>
            <a:pathLst>
              <a:path w="3718852" h="3006296">
                <a:moveTo>
                  <a:pt x="0" y="0"/>
                </a:moveTo>
                <a:lnTo>
                  <a:pt x="3718852" y="0"/>
                </a:lnTo>
                <a:lnTo>
                  <a:pt x="3718852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31520" y="3792068"/>
            <a:ext cx="1627632" cy="40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3">
                <a:solidFill>
                  <a:srgbClr val="FF914D"/>
                </a:solidFill>
                <a:latin typeface="Roboto"/>
                <a:ea typeface="Roboto"/>
                <a:cs typeface="Roboto"/>
                <a:sym typeface="Roboto"/>
              </a:rPr>
              <a:t>User Service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66160" y="3829908"/>
            <a:ext cx="4206240" cy="346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6"/>
              </a:lnSpc>
            </a:pPr>
            <a:r>
              <a:rPr lang="en-US" sz="2061" spc="-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Handles user profiles and registrations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31464" y="3848060"/>
            <a:ext cx="2843828" cy="2153601"/>
          </a:xfrm>
          <a:custGeom>
            <a:avLst/>
            <a:gdLst/>
            <a:ahLst/>
            <a:cxnLst/>
            <a:rect l="l" t="t" r="r" b="b"/>
            <a:pathLst>
              <a:path w="2843828" h="2153601">
                <a:moveTo>
                  <a:pt x="0" y="0"/>
                </a:moveTo>
                <a:lnTo>
                  <a:pt x="2843828" y="0"/>
                </a:lnTo>
                <a:lnTo>
                  <a:pt x="2843828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31520" y="4677092"/>
            <a:ext cx="2011680" cy="4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30">
                <a:solidFill>
                  <a:srgbClr val="FF914D"/>
                </a:solidFill>
                <a:latin typeface="Roboto"/>
                <a:ea typeface="Roboto"/>
                <a:cs typeface="Roboto"/>
                <a:sym typeface="Roboto"/>
              </a:rPr>
              <a:t>Vehicle Service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566160" y="4714590"/>
            <a:ext cx="4352544" cy="346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6"/>
              </a:lnSpc>
            </a:pPr>
            <a:r>
              <a:rPr lang="en-US" sz="2061" spc="-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Manages vehicle listings and availability</a:t>
            </a:r>
          </a:p>
        </p:txBody>
      </p:sp>
      <p:sp>
        <p:nvSpPr>
          <p:cNvPr id="14" name="Freeform 14"/>
          <p:cNvSpPr/>
          <p:nvPr/>
        </p:nvSpPr>
        <p:spPr>
          <a:xfrm>
            <a:off x="8050220" y="4711687"/>
            <a:ext cx="2625072" cy="1289974"/>
          </a:xfrm>
          <a:custGeom>
            <a:avLst/>
            <a:gdLst/>
            <a:ahLst/>
            <a:cxnLst/>
            <a:rect l="l" t="t" r="r" b="b"/>
            <a:pathLst>
              <a:path w="2625072" h="1289974">
                <a:moveTo>
                  <a:pt x="0" y="0"/>
                </a:moveTo>
                <a:lnTo>
                  <a:pt x="2625072" y="0"/>
                </a:lnTo>
                <a:lnTo>
                  <a:pt x="262507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731520" y="5561774"/>
            <a:ext cx="2194560" cy="4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30">
                <a:solidFill>
                  <a:srgbClr val="FF914D"/>
                </a:solidFill>
                <a:latin typeface="Roboto"/>
                <a:ea typeface="Roboto"/>
                <a:cs typeface="Roboto"/>
                <a:sym typeface="Roboto"/>
              </a:rPr>
              <a:t>Payment Service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566160" y="5599272"/>
            <a:ext cx="4407408" cy="346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6"/>
              </a:lnSpc>
            </a:pPr>
            <a:r>
              <a:rPr lang="en-US" sz="2061" spc="-6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Processes rental payments and charges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50220" y="5564382"/>
            <a:ext cx="2625072" cy="437279"/>
          </a:xfrm>
          <a:custGeom>
            <a:avLst/>
            <a:gdLst/>
            <a:ahLst/>
            <a:cxnLst/>
            <a:rect l="l" t="t" r="r" b="b"/>
            <a:pathLst>
              <a:path w="2625072" h="437279">
                <a:moveTo>
                  <a:pt x="0" y="0"/>
                </a:moveTo>
                <a:lnTo>
                  <a:pt x="2625072" y="0"/>
                </a:lnTo>
                <a:lnTo>
                  <a:pt x="262507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31520" y="6434724"/>
            <a:ext cx="2523744" cy="39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>
                <a:solidFill>
                  <a:srgbClr val="FF914D"/>
                </a:solidFill>
                <a:latin typeface="Roboto"/>
                <a:ea typeface="Roboto"/>
                <a:cs typeface="Roboto"/>
                <a:sym typeface="Roboto"/>
              </a:rPr>
              <a:t>Notification Service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66160" y="6515902"/>
            <a:ext cx="3364992" cy="607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56"/>
              </a:lnSpc>
            </a:pPr>
            <a:r>
              <a:rPr lang="en-US" sz="2142" spc="-6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Sends booking confirmations, reminders, and alerts</a:t>
            </a:r>
          </a:p>
        </p:txBody>
      </p:sp>
      <p:sp>
        <p:nvSpPr>
          <p:cNvPr id="20" name="Freeform 20"/>
          <p:cNvSpPr/>
          <p:nvPr/>
        </p:nvSpPr>
        <p:spPr>
          <a:xfrm>
            <a:off x="6956440" y="6428009"/>
            <a:ext cx="3718852" cy="1289974"/>
          </a:xfrm>
          <a:custGeom>
            <a:avLst/>
            <a:gdLst/>
            <a:ahLst/>
            <a:cxnLst/>
            <a:rect l="l" t="t" r="r" b="b"/>
            <a:pathLst>
              <a:path w="3718852" h="1289974">
                <a:moveTo>
                  <a:pt x="0" y="0"/>
                </a:moveTo>
                <a:lnTo>
                  <a:pt x="3718852" y="0"/>
                </a:lnTo>
                <a:lnTo>
                  <a:pt x="3718852" y="1289974"/>
                </a:lnTo>
                <a:lnTo>
                  <a:pt x="0" y="128997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731520" y="7453137"/>
            <a:ext cx="2066544" cy="39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>
                <a:solidFill>
                  <a:srgbClr val="FF914D"/>
                </a:solidFill>
                <a:latin typeface="Roboto"/>
                <a:ea typeface="Roboto"/>
                <a:cs typeface="Roboto"/>
                <a:sym typeface="Roboto"/>
              </a:rPr>
              <a:t>Booking 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566160" y="7543669"/>
            <a:ext cx="4169664" cy="598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86"/>
              </a:lnSpc>
            </a:pPr>
            <a:r>
              <a:rPr lang="en-US" sz="2169" spc="-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Manages bookings, returns, overdue and damage fee calculations</a:t>
            </a:r>
          </a:p>
        </p:txBody>
      </p:sp>
      <p:sp>
        <p:nvSpPr>
          <p:cNvPr id="23" name="Freeform 23"/>
          <p:cNvSpPr/>
          <p:nvPr/>
        </p:nvSpPr>
        <p:spPr>
          <a:xfrm>
            <a:off x="6748622" y="7499343"/>
            <a:ext cx="3926670" cy="1289974"/>
          </a:xfrm>
          <a:custGeom>
            <a:avLst/>
            <a:gdLst/>
            <a:ahLst/>
            <a:cxnLst/>
            <a:rect l="l" t="t" r="r" b="b"/>
            <a:pathLst>
              <a:path w="3926670" h="1289974">
                <a:moveTo>
                  <a:pt x="0" y="0"/>
                </a:moveTo>
                <a:lnTo>
                  <a:pt x="3926670" y="0"/>
                </a:lnTo>
                <a:lnTo>
                  <a:pt x="3926670" y="1289975"/>
                </a:lnTo>
                <a:lnTo>
                  <a:pt x="0" y="12899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4" name="TextBox 24"/>
          <p:cNvSpPr txBox="1"/>
          <p:nvPr/>
        </p:nvSpPr>
        <p:spPr>
          <a:xfrm>
            <a:off x="731520" y="8560242"/>
            <a:ext cx="2706624" cy="7186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29"/>
              </a:lnSpc>
            </a:pPr>
            <a:r>
              <a:rPr lang="en-US" sz="2357">
                <a:solidFill>
                  <a:srgbClr val="FF914D"/>
                </a:solidFill>
                <a:latin typeface="Roboto"/>
                <a:ea typeface="Roboto"/>
                <a:cs typeface="Roboto"/>
                <a:sym typeface="Roboto"/>
              </a:rPr>
              <a:t>AI Recommendation Service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3566160" y="8580729"/>
            <a:ext cx="4407408" cy="10046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spc="-7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Provides AI-powered insights like damage detection, demand prediction, and dynamic pricing</a:t>
            </a:r>
          </a:p>
        </p:txBody>
      </p:sp>
      <p:sp>
        <p:nvSpPr>
          <p:cNvPr id="26" name="Freeform 26"/>
          <p:cNvSpPr/>
          <p:nvPr/>
        </p:nvSpPr>
        <p:spPr>
          <a:xfrm>
            <a:off x="10445598" y="4711687"/>
            <a:ext cx="3062584" cy="2153601"/>
          </a:xfrm>
          <a:custGeom>
            <a:avLst/>
            <a:gdLst/>
            <a:ahLst/>
            <a:cxnLst/>
            <a:rect l="l" t="t" r="r" b="b"/>
            <a:pathLst>
              <a:path w="3062584" h="2153601">
                <a:moveTo>
                  <a:pt x="0" y="0"/>
                </a:moveTo>
                <a:lnTo>
                  <a:pt x="3062584" y="0"/>
                </a:lnTo>
                <a:lnTo>
                  <a:pt x="306258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10954512" y="4991886"/>
            <a:ext cx="1920240" cy="524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87"/>
              </a:lnSpc>
            </a:pPr>
            <a:r>
              <a:rPr lang="en-US" sz="3062" b="1" spc="-91">
                <a:solidFill>
                  <a:srgbClr val="FF914D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API Gateway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881360" y="5637011"/>
            <a:ext cx="2103120" cy="893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6"/>
              </a:lnSpc>
            </a:pPr>
            <a:r>
              <a:rPr lang="en-US" sz="2169" spc="-6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Central entry point routing requests to services</a:t>
            </a:r>
          </a:p>
        </p:txBody>
      </p:sp>
      <p:sp>
        <p:nvSpPr>
          <p:cNvPr id="29" name="Freeform 29"/>
          <p:cNvSpPr/>
          <p:nvPr/>
        </p:nvSpPr>
        <p:spPr>
          <a:xfrm>
            <a:off x="10226842" y="5564382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30352" y="913262"/>
            <a:ext cx="6181344" cy="1598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3"/>
              </a:lnSpc>
            </a:pPr>
            <a:r>
              <a:rPr lang="en-US" sz="6351" b="1" spc="127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Service Startup and Deployment Flow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569017"/>
            <a:ext cx="1542230" cy="218640"/>
          </a:xfrm>
          <a:custGeom>
            <a:avLst/>
            <a:gdLst/>
            <a:ahLst/>
            <a:cxnLst/>
            <a:rect l="l" t="t" r="r" b="b"/>
            <a:pathLst>
              <a:path w="1542230" h="218640">
                <a:moveTo>
                  <a:pt x="0" y="0"/>
                </a:moveTo>
                <a:lnTo>
                  <a:pt x="1542230" y="0"/>
                </a:lnTo>
                <a:lnTo>
                  <a:pt x="154223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30352" y="3164710"/>
            <a:ext cx="5084064" cy="1020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28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Follow this sequence to run the platform services </a:t>
            </a:r>
            <a:r>
              <a:rPr lang="en-US" sz="2893">
                <a:solidFill>
                  <a:srgbClr val="F16410"/>
                </a:solidFill>
                <a:latin typeface="Roboto"/>
                <a:ea typeface="Roboto"/>
                <a:cs typeface="Roboto"/>
                <a:sym typeface="Roboto"/>
              </a:rPr>
              <a:t>locally</a:t>
            </a:r>
            <a:r>
              <a:rPr lang="en-US" sz="289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  <p:sp>
        <p:nvSpPr>
          <p:cNvPr id="6" name="Freeform 6"/>
          <p:cNvSpPr/>
          <p:nvPr/>
        </p:nvSpPr>
        <p:spPr>
          <a:xfrm>
            <a:off x="7612708" y="1497682"/>
            <a:ext cx="229694" cy="6865288"/>
          </a:xfrm>
          <a:custGeom>
            <a:avLst/>
            <a:gdLst/>
            <a:ahLst/>
            <a:cxnLst/>
            <a:rect l="l" t="t" r="r" b="b"/>
            <a:pathLst>
              <a:path w="229694" h="6865288">
                <a:moveTo>
                  <a:pt x="0" y="0"/>
                </a:moveTo>
                <a:lnTo>
                  <a:pt x="229694" y="0"/>
                </a:lnTo>
                <a:lnTo>
                  <a:pt x="229694" y="6865288"/>
                </a:lnTo>
                <a:lnTo>
                  <a:pt x="0" y="6865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7175196" y="634055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662672" y="828783"/>
            <a:ext cx="182880" cy="59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</a:t>
            </a:r>
          </a:p>
        </p:txBody>
      </p:sp>
      <p:sp>
        <p:nvSpPr>
          <p:cNvPr id="9" name="Freeform 9"/>
          <p:cNvSpPr/>
          <p:nvPr/>
        </p:nvSpPr>
        <p:spPr>
          <a:xfrm>
            <a:off x="8268976" y="426348"/>
            <a:ext cx="9373694" cy="1727254"/>
          </a:xfrm>
          <a:custGeom>
            <a:avLst/>
            <a:gdLst/>
            <a:ahLst/>
            <a:cxnLst/>
            <a:rect l="l" t="t" r="r" b="b"/>
            <a:pathLst>
              <a:path w="9373694" h="1727254">
                <a:moveTo>
                  <a:pt x="0" y="0"/>
                </a:moveTo>
                <a:lnTo>
                  <a:pt x="9373694" y="0"/>
                </a:lnTo>
                <a:lnTo>
                  <a:pt x="9373694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650224" y="856880"/>
            <a:ext cx="2816352" cy="44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54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Start Eureka Server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50224" y="1373808"/>
            <a:ext cx="6144768" cy="38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eureka-server &amp;&amp;mvn spring-boot:run</a:t>
            </a:r>
          </a:p>
        </p:txBody>
      </p:sp>
      <p:sp>
        <p:nvSpPr>
          <p:cNvPr id="12" name="Freeform 12"/>
          <p:cNvSpPr/>
          <p:nvPr/>
        </p:nvSpPr>
        <p:spPr>
          <a:xfrm>
            <a:off x="7175196" y="2142670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7644384" y="2371833"/>
            <a:ext cx="219456" cy="59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</a:t>
            </a:r>
          </a:p>
        </p:txBody>
      </p:sp>
      <p:sp>
        <p:nvSpPr>
          <p:cNvPr id="14" name="Freeform 14"/>
          <p:cNvSpPr/>
          <p:nvPr/>
        </p:nvSpPr>
        <p:spPr>
          <a:xfrm>
            <a:off x="8268976" y="2142670"/>
            <a:ext cx="9373694" cy="2787657"/>
          </a:xfrm>
          <a:custGeom>
            <a:avLst/>
            <a:gdLst/>
            <a:ahLst/>
            <a:cxnLst/>
            <a:rect l="l" t="t" r="r" b="b"/>
            <a:pathLst>
              <a:path w="9373694" h="2787657">
                <a:moveTo>
                  <a:pt x="0" y="0"/>
                </a:moveTo>
                <a:lnTo>
                  <a:pt x="9373694" y="0"/>
                </a:lnTo>
                <a:lnTo>
                  <a:pt x="9373694" y="2787656"/>
                </a:lnTo>
                <a:lnTo>
                  <a:pt x="0" y="2787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8650224" y="2435813"/>
            <a:ext cx="7626096" cy="43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Start core microservices (each in separate terminals)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50224" y="3025843"/>
            <a:ext cx="7168896" cy="1616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user-service &amp;&amp;mvn spring-boot:run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vehicle-service &amp;&amp;mvn spring-boot:run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payment-service &amp;&amp;mvn spring-boot:run</a:t>
            </a:r>
          </a:p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notification-service &amp;&amp;mvn spring-boot:run</a:t>
            </a:r>
          </a:p>
        </p:txBody>
      </p:sp>
      <p:sp>
        <p:nvSpPr>
          <p:cNvPr id="17" name="Freeform 17"/>
          <p:cNvSpPr/>
          <p:nvPr/>
        </p:nvSpPr>
        <p:spPr>
          <a:xfrm>
            <a:off x="7175196" y="5138034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7644384" y="5200758"/>
            <a:ext cx="219456" cy="59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</a:t>
            </a:r>
          </a:p>
        </p:txBody>
      </p:sp>
      <p:sp>
        <p:nvSpPr>
          <p:cNvPr id="19" name="Freeform 19"/>
          <p:cNvSpPr/>
          <p:nvPr/>
        </p:nvSpPr>
        <p:spPr>
          <a:xfrm>
            <a:off x="8268976" y="4919394"/>
            <a:ext cx="9373694" cy="1519546"/>
          </a:xfrm>
          <a:custGeom>
            <a:avLst/>
            <a:gdLst/>
            <a:ahLst/>
            <a:cxnLst/>
            <a:rect l="l" t="t" r="r" b="b"/>
            <a:pathLst>
              <a:path w="9373694" h="1519546">
                <a:moveTo>
                  <a:pt x="0" y="0"/>
                </a:moveTo>
                <a:lnTo>
                  <a:pt x="9373694" y="0"/>
                </a:lnTo>
                <a:lnTo>
                  <a:pt x="9373694" y="1519546"/>
                </a:lnTo>
                <a:lnTo>
                  <a:pt x="0" y="151954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8650224" y="5254451"/>
            <a:ext cx="5925312" cy="43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Start Booking Service after core services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50224" y="5766357"/>
            <a:ext cx="6437376" cy="38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booking-service &amp;&amp;mvn spring-boot:run</a:t>
            </a:r>
          </a:p>
        </p:txBody>
      </p:sp>
      <p:sp>
        <p:nvSpPr>
          <p:cNvPr id="22" name="Freeform 22"/>
          <p:cNvSpPr/>
          <p:nvPr/>
        </p:nvSpPr>
        <p:spPr>
          <a:xfrm>
            <a:off x="7175196" y="6635716"/>
            <a:ext cx="1104718" cy="874559"/>
          </a:xfrm>
          <a:custGeom>
            <a:avLst/>
            <a:gdLst/>
            <a:ahLst/>
            <a:cxnLst/>
            <a:rect l="l" t="t" r="r" b="b"/>
            <a:pathLst>
              <a:path w="1104718" h="874559">
                <a:moveTo>
                  <a:pt x="0" y="0"/>
                </a:moveTo>
                <a:lnTo>
                  <a:pt x="1104718" y="0"/>
                </a:lnTo>
                <a:lnTo>
                  <a:pt x="110471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7644384" y="6702660"/>
            <a:ext cx="219456" cy="59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4</a:t>
            </a:r>
          </a:p>
        </p:txBody>
      </p:sp>
      <p:sp>
        <p:nvSpPr>
          <p:cNvPr id="24" name="Freeform 24"/>
          <p:cNvSpPr/>
          <p:nvPr/>
        </p:nvSpPr>
        <p:spPr>
          <a:xfrm>
            <a:off x="8268976" y="6428009"/>
            <a:ext cx="9373694" cy="1508614"/>
          </a:xfrm>
          <a:custGeom>
            <a:avLst/>
            <a:gdLst/>
            <a:ahLst/>
            <a:cxnLst/>
            <a:rect l="l" t="t" r="r" b="b"/>
            <a:pathLst>
              <a:path w="9373694" h="1508614">
                <a:moveTo>
                  <a:pt x="0" y="0"/>
                </a:moveTo>
                <a:lnTo>
                  <a:pt x="9373694" y="0"/>
                </a:lnTo>
                <a:lnTo>
                  <a:pt x="9373694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8650224" y="6756353"/>
            <a:ext cx="3218688" cy="4307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11"/>
              </a:lnSpc>
            </a:pPr>
            <a:r>
              <a:rPr lang="en-US" sz="250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Start API Gateway last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50224" y="7257972"/>
            <a:ext cx="5852160" cy="3834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3"/>
              </a:lnSpc>
            </a:pPr>
            <a:r>
              <a:rPr lang="en-US" sz="2274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api-gateway &amp;&amp;mvn spring-boot:run</a:t>
            </a:r>
          </a:p>
        </p:txBody>
      </p:sp>
      <p:sp>
        <p:nvSpPr>
          <p:cNvPr id="27" name="Freeform 27"/>
          <p:cNvSpPr/>
          <p:nvPr/>
        </p:nvSpPr>
        <p:spPr>
          <a:xfrm>
            <a:off x="7175196" y="8133399"/>
            <a:ext cx="1104718" cy="874559"/>
          </a:xfrm>
          <a:custGeom>
            <a:avLst/>
            <a:gdLst/>
            <a:ahLst/>
            <a:cxnLst/>
            <a:rect l="l" t="t" r="r" b="b"/>
            <a:pathLst>
              <a:path w="1104718" h="874559">
                <a:moveTo>
                  <a:pt x="0" y="0"/>
                </a:moveTo>
                <a:lnTo>
                  <a:pt x="1104718" y="0"/>
                </a:lnTo>
                <a:lnTo>
                  <a:pt x="1104718" y="874558"/>
                </a:lnTo>
                <a:lnTo>
                  <a:pt x="0" y="8745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8" name="TextBox 28"/>
          <p:cNvSpPr txBox="1"/>
          <p:nvPr/>
        </p:nvSpPr>
        <p:spPr>
          <a:xfrm>
            <a:off x="7644384" y="8194275"/>
            <a:ext cx="219456" cy="591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2"/>
              </a:lnSpc>
            </a:pPr>
            <a:r>
              <a:rPr lang="en-US" sz="3401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5</a:t>
            </a:r>
          </a:p>
        </p:txBody>
      </p:sp>
      <p:sp>
        <p:nvSpPr>
          <p:cNvPr id="29" name="Freeform 29"/>
          <p:cNvSpPr/>
          <p:nvPr/>
        </p:nvSpPr>
        <p:spPr>
          <a:xfrm>
            <a:off x="8268976" y="7925691"/>
            <a:ext cx="9373694" cy="2153601"/>
          </a:xfrm>
          <a:custGeom>
            <a:avLst/>
            <a:gdLst/>
            <a:ahLst/>
            <a:cxnLst/>
            <a:rect l="l" t="t" r="r" b="b"/>
            <a:pathLst>
              <a:path w="9373694" h="2153601">
                <a:moveTo>
                  <a:pt x="0" y="0"/>
                </a:moveTo>
                <a:lnTo>
                  <a:pt x="9373694" y="0"/>
                </a:lnTo>
                <a:lnTo>
                  <a:pt x="9373694" y="2153601"/>
                </a:lnTo>
                <a:lnTo>
                  <a:pt x="0" y="215360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8650224" y="8191511"/>
            <a:ext cx="4901184" cy="440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60"/>
              </a:lnSpc>
            </a:pPr>
            <a:r>
              <a:rPr lang="en-US" sz="254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Start AI Recommendation Service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650224" y="8731132"/>
            <a:ext cx="6437376" cy="1086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4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cd ai-recommendation-service</a:t>
            </a:r>
          </a:p>
          <a:p>
            <a:pPr algn="l">
              <a:lnSpc>
                <a:spcPts val="2874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pip install -r requirements.txt</a:t>
            </a:r>
          </a:p>
          <a:p>
            <a:pPr algn="l">
              <a:lnSpc>
                <a:spcPts val="2874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uvicorn app.main:app --reload --port 8000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572000" y="426348"/>
            <a:ext cx="13508182" cy="9860652"/>
          </a:xfrm>
          <a:custGeom>
            <a:avLst/>
            <a:gdLst/>
            <a:ahLst/>
            <a:cxnLst/>
            <a:rect l="l" t="t" r="r" b="b"/>
            <a:pathLst>
              <a:path w="13508182" h="9860652">
                <a:moveTo>
                  <a:pt x="0" y="0"/>
                </a:moveTo>
                <a:lnTo>
                  <a:pt x="13508182" y="0"/>
                </a:lnTo>
                <a:lnTo>
                  <a:pt x="13508182" y="9860652"/>
                </a:lnTo>
                <a:lnTo>
                  <a:pt x="0" y="9860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03504" y="852524"/>
            <a:ext cx="4919472" cy="1539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4"/>
              </a:lnSpc>
            </a:pPr>
            <a:r>
              <a:rPr lang="en-US" sz="8924" b="1" spc="178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AI-POWERED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3504" y="1984094"/>
            <a:ext cx="6071616" cy="1539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494"/>
              </a:lnSpc>
            </a:pPr>
            <a:r>
              <a:rPr lang="en-US" sz="8924" b="1" spc="178">
                <a:solidFill>
                  <a:srgbClr val="F1832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OPPORTUNITIES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3421712"/>
            <a:ext cx="1760986" cy="437279"/>
          </a:xfrm>
          <a:custGeom>
            <a:avLst/>
            <a:gdLst/>
            <a:ahLst/>
            <a:cxnLst/>
            <a:rect l="l" t="t" r="r" b="b"/>
            <a:pathLst>
              <a:path w="1760986" h="437279">
                <a:moveTo>
                  <a:pt x="0" y="0"/>
                </a:moveTo>
                <a:lnTo>
                  <a:pt x="1760986" y="0"/>
                </a:lnTo>
                <a:lnTo>
                  <a:pt x="176098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03504" y="4259510"/>
            <a:ext cx="6565392" cy="908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8" b="1" spc="-52">
                <a:solidFill>
                  <a:srgbClr val="F18321"/>
                </a:solidFill>
                <a:latin typeface="Roboto Bold"/>
                <a:ea typeface="Roboto Bold"/>
                <a:cs typeface="Roboto Bold"/>
                <a:sym typeface="Roboto Bold"/>
              </a:rPr>
              <a:t>Image-based damage detection</a:t>
            </a:r>
            <a:r>
              <a:rPr lang="en-US" sz="2638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automates vehicle condition assessment upon return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3504" y="5493950"/>
            <a:ext cx="6364224" cy="908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8" b="1" spc="-52">
                <a:solidFill>
                  <a:srgbClr val="F18321"/>
                </a:solidFill>
                <a:latin typeface="Roboto Bold"/>
                <a:ea typeface="Roboto Bold"/>
                <a:cs typeface="Roboto Bold"/>
                <a:sym typeface="Roboto Bold"/>
              </a:rPr>
              <a:t>Demand prediction models</a:t>
            </a:r>
            <a:r>
              <a:rPr lang="en-US" sz="2638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forecast rental trends by city and vehicle type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03504" y="6769538"/>
            <a:ext cx="6949440" cy="908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8" b="1" spc="-52">
                <a:solidFill>
                  <a:srgbClr val="F18321"/>
                </a:solidFill>
                <a:latin typeface="Roboto Bold"/>
                <a:ea typeface="Roboto Bold"/>
                <a:cs typeface="Roboto Bold"/>
                <a:sym typeface="Roboto Bold"/>
              </a:rPr>
              <a:t>Dynamic pricing algorithms</a:t>
            </a:r>
            <a:r>
              <a:rPr lang="en-US" sz="2638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adjust rates based on demand, availability, and usage patterns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3504" y="8106848"/>
            <a:ext cx="7626096" cy="908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4"/>
              </a:lnSpc>
            </a:pPr>
            <a:r>
              <a:rPr lang="en-US" sz="2638" b="1" spc="-52">
                <a:solidFill>
                  <a:srgbClr val="F18321"/>
                </a:solidFill>
                <a:latin typeface="Roboto Bold"/>
                <a:ea typeface="Roboto Bold"/>
                <a:cs typeface="Roboto Bold"/>
                <a:sym typeface="Roboto Bold"/>
              </a:rPr>
              <a:t>The result:</a:t>
            </a:r>
            <a:r>
              <a:rPr lang="en-US" sz="2638" spc="-52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improved operational efficiency, better customer experience, and optimized revenue</a:t>
            </a:r>
          </a:p>
        </p:txBody>
      </p:sp>
      <p:sp>
        <p:nvSpPr>
          <p:cNvPr id="11" name="TextBox 11"/>
          <p:cNvSpPr txBox="1"/>
          <p:nvPr/>
        </p:nvSpPr>
        <p:spPr>
          <a:xfrm rot="-161999">
            <a:off x="9874042" y="1321836"/>
            <a:ext cx="2011680" cy="280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83"/>
              </a:lnSpc>
            </a:pPr>
            <a:r>
              <a:rPr lang="en-US" sz="1630" b="1" spc="-32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Insights Dashboard</a:t>
            </a:r>
          </a:p>
        </p:txBody>
      </p:sp>
      <p:sp>
        <p:nvSpPr>
          <p:cNvPr id="12" name="Freeform 12"/>
          <p:cNvSpPr/>
          <p:nvPr/>
        </p:nvSpPr>
        <p:spPr>
          <a:xfrm>
            <a:off x="9789330" y="2569017"/>
            <a:ext cx="2187560" cy="1934962"/>
          </a:xfrm>
          <a:custGeom>
            <a:avLst/>
            <a:gdLst/>
            <a:ahLst/>
            <a:cxnLst/>
            <a:rect l="l" t="t" r="r" b="b"/>
            <a:pathLst>
              <a:path w="2187560" h="1934962">
                <a:moveTo>
                  <a:pt x="0" y="0"/>
                </a:moveTo>
                <a:lnTo>
                  <a:pt x="2187560" y="0"/>
                </a:lnTo>
                <a:lnTo>
                  <a:pt x="2187560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2184708" y="2569017"/>
            <a:ext cx="2406316" cy="1727254"/>
          </a:xfrm>
          <a:custGeom>
            <a:avLst/>
            <a:gdLst/>
            <a:ahLst/>
            <a:cxnLst/>
            <a:rect l="l" t="t" r="r" b="b"/>
            <a:pathLst>
              <a:path w="2406316" h="1727254">
                <a:moveTo>
                  <a:pt x="0" y="0"/>
                </a:moveTo>
                <a:lnTo>
                  <a:pt x="2406316" y="0"/>
                </a:lnTo>
                <a:lnTo>
                  <a:pt x="240631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5236354" y="2569017"/>
            <a:ext cx="1531292" cy="1934962"/>
          </a:xfrm>
          <a:custGeom>
            <a:avLst/>
            <a:gdLst/>
            <a:ahLst/>
            <a:cxnLst/>
            <a:rect l="l" t="t" r="r" b="b"/>
            <a:pathLst>
              <a:path w="1531292" h="1934962">
                <a:moveTo>
                  <a:pt x="0" y="0"/>
                </a:moveTo>
                <a:lnTo>
                  <a:pt x="1531292" y="0"/>
                </a:lnTo>
                <a:lnTo>
                  <a:pt x="1531292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 rot="161999">
            <a:off x="15548140" y="3252480"/>
            <a:ext cx="877824" cy="60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71"/>
              </a:lnSpc>
            </a:pPr>
            <a:r>
              <a:rPr lang="en-US" sz="3622" b="1" spc="72">
                <a:solidFill>
                  <a:srgbClr val="F1832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+12%</a:t>
            </a:r>
          </a:p>
        </p:txBody>
      </p:sp>
      <p:sp>
        <p:nvSpPr>
          <p:cNvPr id="16" name="TextBox 16"/>
          <p:cNvSpPr txBox="1"/>
          <p:nvPr/>
        </p:nvSpPr>
        <p:spPr>
          <a:xfrm rot="-161999">
            <a:off x="9965817" y="1946225"/>
            <a:ext cx="1335024" cy="2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lang="en-US" sz="1318" b="1" spc="-2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Damage Detection</a:t>
            </a:r>
          </a:p>
        </p:txBody>
      </p:sp>
      <p:sp>
        <p:nvSpPr>
          <p:cNvPr id="17" name="TextBox 17"/>
          <p:cNvSpPr txBox="1"/>
          <p:nvPr/>
        </p:nvSpPr>
        <p:spPr>
          <a:xfrm rot="-161999">
            <a:off x="9966134" y="2320121"/>
            <a:ext cx="1133856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Analysis Complete</a:t>
            </a:r>
          </a:p>
        </p:txBody>
      </p:sp>
      <p:sp>
        <p:nvSpPr>
          <p:cNvPr id="18" name="TextBox 18"/>
          <p:cNvSpPr txBox="1"/>
          <p:nvPr/>
        </p:nvSpPr>
        <p:spPr>
          <a:xfrm rot="-161999">
            <a:off x="12434697" y="1946225"/>
            <a:ext cx="1280160" cy="2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lang="en-US" sz="1318" b="1" spc="-2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Demand Forecast</a:t>
            </a:r>
          </a:p>
        </p:txBody>
      </p:sp>
      <p:sp>
        <p:nvSpPr>
          <p:cNvPr id="19" name="TextBox 19"/>
          <p:cNvSpPr txBox="1"/>
          <p:nvPr/>
        </p:nvSpPr>
        <p:spPr>
          <a:xfrm rot="-161999">
            <a:off x="12434805" y="2293701"/>
            <a:ext cx="658368" cy="177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16"/>
              </a:lnSpc>
            </a:pPr>
            <a:r>
              <a:rPr lang="en-US" sz="1011" spc="-2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Next 7 Days</a:t>
            </a:r>
          </a:p>
        </p:txBody>
      </p:sp>
      <p:sp>
        <p:nvSpPr>
          <p:cNvPr id="20" name="TextBox 20"/>
          <p:cNvSpPr txBox="1"/>
          <p:nvPr/>
        </p:nvSpPr>
        <p:spPr>
          <a:xfrm rot="-161999">
            <a:off x="15050100" y="1927311"/>
            <a:ext cx="1645920" cy="252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439" b="1" spc="-2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Pricing Optimization</a:t>
            </a:r>
          </a:p>
        </p:txBody>
      </p:sp>
      <p:sp>
        <p:nvSpPr>
          <p:cNvPr id="21" name="TextBox 21"/>
          <p:cNvSpPr txBox="1"/>
          <p:nvPr/>
        </p:nvSpPr>
        <p:spPr>
          <a:xfrm rot="-161999">
            <a:off x="15050198" y="2248112"/>
            <a:ext cx="1865376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Recommended Adjustment</a:t>
            </a:r>
          </a:p>
        </p:txBody>
      </p:sp>
      <p:sp>
        <p:nvSpPr>
          <p:cNvPr id="22" name="TextBox 22"/>
          <p:cNvSpPr txBox="1"/>
          <p:nvPr/>
        </p:nvSpPr>
        <p:spPr>
          <a:xfrm rot="161999">
            <a:off x="10041240" y="4661686"/>
            <a:ext cx="1261872" cy="2252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lang="en-US" sz="1294" b="1" spc="-25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Damage Detected</a:t>
            </a:r>
          </a:p>
        </p:txBody>
      </p:sp>
      <p:sp>
        <p:nvSpPr>
          <p:cNvPr id="23" name="TextBox 23"/>
          <p:cNvSpPr txBox="1"/>
          <p:nvPr/>
        </p:nvSpPr>
        <p:spPr>
          <a:xfrm rot="161999">
            <a:off x="10132378" y="5529665"/>
            <a:ext cx="969264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Areas Identified</a:t>
            </a:r>
          </a:p>
        </p:txBody>
      </p:sp>
      <p:sp>
        <p:nvSpPr>
          <p:cNvPr id="24" name="TextBox 24"/>
          <p:cNvSpPr txBox="1"/>
          <p:nvPr/>
        </p:nvSpPr>
        <p:spPr>
          <a:xfrm rot="161999">
            <a:off x="12711303" y="4703141"/>
            <a:ext cx="1097280" cy="224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46"/>
              </a:lnSpc>
            </a:pPr>
            <a:r>
              <a:rPr lang="en-US" sz="1318" b="1" spc="-26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Rising Demand</a:t>
            </a:r>
          </a:p>
        </p:txBody>
      </p:sp>
      <p:sp>
        <p:nvSpPr>
          <p:cNvPr id="25" name="TextBox 25"/>
          <p:cNvSpPr txBox="1"/>
          <p:nvPr/>
        </p:nvSpPr>
        <p:spPr>
          <a:xfrm rot="161999">
            <a:off x="12619546" y="5611961"/>
            <a:ext cx="1133856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Across Key Cities</a:t>
            </a:r>
          </a:p>
        </p:txBody>
      </p:sp>
      <p:sp>
        <p:nvSpPr>
          <p:cNvPr id="26" name="TextBox 26"/>
          <p:cNvSpPr txBox="1"/>
          <p:nvPr/>
        </p:nvSpPr>
        <p:spPr>
          <a:xfrm rot="161999">
            <a:off x="15271404" y="4715088"/>
            <a:ext cx="1353312" cy="252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439" b="1" spc="-2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Rate Adjustment</a:t>
            </a:r>
          </a:p>
        </p:txBody>
      </p:sp>
      <p:sp>
        <p:nvSpPr>
          <p:cNvPr id="27" name="TextBox 27"/>
          <p:cNvSpPr txBox="1"/>
          <p:nvPr/>
        </p:nvSpPr>
        <p:spPr>
          <a:xfrm rot="161999">
            <a:off x="15344458" y="5725118"/>
            <a:ext cx="1078992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Optimal Pricing</a:t>
            </a:r>
          </a:p>
        </p:txBody>
      </p:sp>
      <p:sp>
        <p:nvSpPr>
          <p:cNvPr id="28" name="TextBox 28"/>
          <p:cNvSpPr txBox="1"/>
          <p:nvPr/>
        </p:nvSpPr>
        <p:spPr>
          <a:xfrm rot="161999">
            <a:off x="9675276" y="6258138"/>
            <a:ext cx="768096" cy="2529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439" b="1" spc="-2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 Impact</a:t>
            </a:r>
          </a:p>
        </p:txBody>
      </p:sp>
      <p:sp>
        <p:nvSpPr>
          <p:cNvPr id="29" name="TextBox 29"/>
          <p:cNvSpPr txBox="1"/>
          <p:nvPr/>
        </p:nvSpPr>
        <p:spPr>
          <a:xfrm rot="161999">
            <a:off x="9766618" y="6702383"/>
            <a:ext cx="1335024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spc="-2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Operational Efficiency</a:t>
            </a:r>
          </a:p>
        </p:txBody>
      </p:sp>
      <p:sp>
        <p:nvSpPr>
          <p:cNvPr id="30" name="TextBox 30"/>
          <p:cNvSpPr txBox="1"/>
          <p:nvPr/>
        </p:nvSpPr>
        <p:spPr>
          <a:xfrm rot="161999">
            <a:off x="12016042" y="6825827"/>
            <a:ext cx="1389888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b="1" spc="-2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Customer Experience</a:t>
            </a:r>
          </a:p>
        </p:txBody>
      </p:sp>
      <p:sp>
        <p:nvSpPr>
          <p:cNvPr id="31" name="TextBox 31"/>
          <p:cNvSpPr txBox="1"/>
          <p:nvPr/>
        </p:nvSpPr>
        <p:spPr>
          <a:xfrm rot="161999">
            <a:off x="14521498" y="6949271"/>
            <a:ext cx="1554480" cy="186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9"/>
              </a:lnSpc>
            </a:pPr>
            <a:r>
              <a:rPr lang="en-US" sz="1092" b="1" spc="-2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Revenue Optimization</a:t>
            </a:r>
          </a:p>
        </p:txBody>
      </p:sp>
      <p:sp>
        <p:nvSpPr>
          <p:cNvPr id="32" name="TextBox 32"/>
          <p:cNvSpPr txBox="1"/>
          <p:nvPr/>
        </p:nvSpPr>
        <p:spPr>
          <a:xfrm rot="161999">
            <a:off x="10517618" y="4893217"/>
            <a:ext cx="237744" cy="70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9"/>
              </a:lnSpc>
            </a:pPr>
            <a:r>
              <a:rPr lang="en-US" sz="4107" b="1" spc="82">
                <a:solidFill>
                  <a:srgbClr val="F1832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</a:t>
            </a:r>
          </a:p>
        </p:txBody>
      </p:sp>
      <p:sp>
        <p:nvSpPr>
          <p:cNvPr id="33" name="TextBox 33"/>
          <p:cNvSpPr txBox="1"/>
          <p:nvPr/>
        </p:nvSpPr>
        <p:spPr>
          <a:xfrm rot="161999">
            <a:off x="12840178" y="4975172"/>
            <a:ext cx="768096" cy="7036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12"/>
              </a:lnSpc>
            </a:pPr>
            <a:r>
              <a:rPr lang="en-US" sz="4080" b="1" spc="81">
                <a:solidFill>
                  <a:srgbClr val="F1832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18%</a:t>
            </a:r>
          </a:p>
        </p:txBody>
      </p:sp>
      <p:sp>
        <p:nvSpPr>
          <p:cNvPr id="34" name="TextBox 34"/>
          <p:cNvSpPr txBox="1"/>
          <p:nvPr/>
        </p:nvSpPr>
        <p:spPr>
          <a:xfrm rot="161999">
            <a:off x="15363938" y="4975513"/>
            <a:ext cx="1097280" cy="702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49"/>
              </a:lnSpc>
            </a:pPr>
            <a:r>
              <a:rPr lang="en-US" sz="4107" b="1" spc="82">
                <a:solidFill>
                  <a:srgbClr val="F18321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+12%</a:t>
            </a:r>
          </a:p>
        </p:txBody>
      </p:sp>
      <p:sp>
        <p:nvSpPr>
          <p:cNvPr id="35" name="TextBox 35"/>
          <p:cNvSpPr txBox="1"/>
          <p:nvPr/>
        </p:nvSpPr>
        <p:spPr>
          <a:xfrm rot="161999">
            <a:off x="9733889" y="6954895"/>
            <a:ext cx="1170432" cy="299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6"/>
              </a:lnSpc>
            </a:pPr>
            <a:r>
              <a:rPr lang="en-US" sz="1754" b="1" spc="35">
                <a:solidFill>
                  <a:srgbClr val="F18321"/>
                </a:solidFill>
                <a:latin typeface="Roboto Bold"/>
                <a:ea typeface="Roboto Bold"/>
                <a:cs typeface="Roboto Bold"/>
                <a:sym typeface="Roboto Bold"/>
              </a:rPr>
              <a:t>IMPROVED</a:t>
            </a:r>
          </a:p>
        </p:txBody>
      </p:sp>
      <p:sp>
        <p:nvSpPr>
          <p:cNvPr id="36" name="TextBox 36"/>
          <p:cNvSpPr txBox="1"/>
          <p:nvPr/>
        </p:nvSpPr>
        <p:spPr>
          <a:xfrm rot="161999">
            <a:off x="11983313" y="7098913"/>
            <a:ext cx="841248" cy="2996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6"/>
              </a:lnSpc>
            </a:pPr>
            <a:r>
              <a:rPr lang="en-US" sz="1754" b="1" spc="35">
                <a:solidFill>
                  <a:srgbClr val="F18321"/>
                </a:solidFill>
                <a:latin typeface="Roboto Bold"/>
                <a:ea typeface="Roboto Bold"/>
                <a:cs typeface="Roboto Bold"/>
                <a:sym typeface="Roboto Bold"/>
              </a:rPr>
              <a:t>BETTER</a:t>
            </a:r>
          </a:p>
        </p:txBody>
      </p:sp>
      <p:sp>
        <p:nvSpPr>
          <p:cNvPr id="37" name="TextBox 37"/>
          <p:cNvSpPr txBox="1"/>
          <p:nvPr/>
        </p:nvSpPr>
        <p:spPr>
          <a:xfrm rot="161999">
            <a:off x="14488103" y="7261973"/>
            <a:ext cx="1426464" cy="3659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63"/>
              </a:lnSpc>
            </a:pPr>
            <a:r>
              <a:rPr lang="en-US" sz="2045" b="1" spc="40">
                <a:solidFill>
                  <a:srgbClr val="F18321"/>
                </a:solidFill>
                <a:latin typeface="Roboto Bold"/>
                <a:ea typeface="Roboto Bold"/>
                <a:cs typeface="Roboto Bold"/>
                <a:sym typeface="Roboto Bold"/>
              </a:rPr>
              <a:t>OPTIMIZED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0" y="0"/>
            <a:ext cx="18288000" cy="4077631"/>
          </a:xfrm>
          <a:custGeom>
            <a:avLst/>
            <a:gdLst/>
            <a:ahLst/>
            <a:cxnLst/>
            <a:rect l="l" t="t" r="r" b="b"/>
            <a:pathLst>
              <a:path w="18288000" h="4077631">
                <a:moveTo>
                  <a:pt x="0" y="0"/>
                </a:moveTo>
                <a:lnTo>
                  <a:pt x="18288000" y="0"/>
                </a:lnTo>
                <a:lnTo>
                  <a:pt x="18288000" y="4077631"/>
                </a:lnTo>
                <a:lnTo>
                  <a:pt x="0" y="4077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622220" y="1497682"/>
            <a:ext cx="5457962" cy="2361309"/>
          </a:xfrm>
          <a:custGeom>
            <a:avLst/>
            <a:gdLst/>
            <a:ahLst/>
            <a:cxnLst/>
            <a:rect l="l" t="t" r="r" b="b"/>
            <a:pathLst>
              <a:path w="5457962" h="2361309">
                <a:moveTo>
                  <a:pt x="0" y="0"/>
                </a:moveTo>
                <a:lnTo>
                  <a:pt x="5457962" y="0"/>
                </a:lnTo>
                <a:lnTo>
                  <a:pt x="5457962" y="2361309"/>
                </a:lnTo>
                <a:lnTo>
                  <a:pt x="0" y="236130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548640" y="1062048"/>
            <a:ext cx="6675120" cy="2084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77"/>
              </a:lnSpc>
            </a:pPr>
            <a:r>
              <a:rPr lang="en-US" sz="8753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End-to-End</a:t>
            </a:r>
          </a:p>
          <a:p>
            <a:pPr algn="l">
              <a:lnSpc>
                <a:spcPts val="7877"/>
              </a:lnSpc>
            </a:pPr>
            <a:r>
              <a:rPr lang="en-US" sz="8753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Rental Workflow</a:t>
            </a:r>
          </a:p>
        </p:txBody>
      </p:sp>
      <p:sp>
        <p:nvSpPr>
          <p:cNvPr id="6" name="Freeform 6"/>
          <p:cNvSpPr/>
          <p:nvPr/>
        </p:nvSpPr>
        <p:spPr>
          <a:xfrm>
            <a:off x="426574" y="2995365"/>
            <a:ext cx="1760986" cy="437279"/>
          </a:xfrm>
          <a:custGeom>
            <a:avLst/>
            <a:gdLst/>
            <a:ahLst/>
            <a:cxnLst/>
            <a:rect l="l" t="t" r="r" b="b"/>
            <a:pathLst>
              <a:path w="1760986" h="437279">
                <a:moveTo>
                  <a:pt x="0" y="0"/>
                </a:moveTo>
                <a:lnTo>
                  <a:pt x="1760986" y="0"/>
                </a:lnTo>
                <a:lnTo>
                  <a:pt x="1760986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48640" y="3452546"/>
            <a:ext cx="7351776" cy="403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19"/>
              </a:lnSpc>
            </a:pPr>
            <a:r>
              <a:rPr lang="en-US" sz="22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simple, transparent process from discovery to return.</a:t>
            </a:r>
          </a:p>
        </p:txBody>
      </p:sp>
      <p:sp>
        <p:nvSpPr>
          <p:cNvPr id="8" name="Freeform 8"/>
          <p:cNvSpPr/>
          <p:nvPr/>
        </p:nvSpPr>
        <p:spPr>
          <a:xfrm>
            <a:off x="207818" y="3848060"/>
            <a:ext cx="17872364" cy="6012593"/>
          </a:xfrm>
          <a:custGeom>
            <a:avLst/>
            <a:gdLst/>
            <a:ahLst/>
            <a:cxnLst/>
            <a:rect l="l" t="t" r="r" b="b"/>
            <a:pathLst>
              <a:path w="17872364" h="6012593">
                <a:moveTo>
                  <a:pt x="0" y="0"/>
                </a:moveTo>
                <a:lnTo>
                  <a:pt x="17872364" y="0"/>
                </a:lnTo>
                <a:lnTo>
                  <a:pt x="17872364" y="6012592"/>
                </a:lnTo>
                <a:lnTo>
                  <a:pt x="0" y="60125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603196" y="4493047"/>
            <a:ext cx="229694" cy="4941258"/>
          </a:xfrm>
          <a:custGeom>
            <a:avLst/>
            <a:gdLst/>
            <a:ahLst/>
            <a:cxnLst/>
            <a:rect l="l" t="t" r="r" b="b"/>
            <a:pathLst>
              <a:path w="229694" h="4941258">
                <a:moveTo>
                  <a:pt x="0" y="0"/>
                </a:moveTo>
                <a:lnTo>
                  <a:pt x="229694" y="0"/>
                </a:lnTo>
                <a:lnTo>
                  <a:pt x="22969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4779818" y="4493047"/>
            <a:ext cx="229694" cy="4941258"/>
          </a:xfrm>
          <a:custGeom>
            <a:avLst/>
            <a:gdLst/>
            <a:ahLst/>
            <a:cxnLst/>
            <a:rect l="l" t="t" r="r" b="b"/>
            <a:pathLst>
              <a:path w="229694" h="4941258">
                <a:moveTo>
                  <a:pt x="0" y="0"/>
                </a:moveTo>
                <a:lnTo>
                  <a:pt x="229694" y="0"/>
                </a:lnTo>
                <a:lnTo>
                  <a:pt x="22969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6956440" y="4493047"/>
            <a:ext cx="229694" cy="4941258"/>
          </a:xfrm>
          <a:custGeom>
            <a:avLst/>
            <a:gdLst/>
            <a:ahLst/>
            <a:cxnLst/>
            <a:rect l="l" t="t" r="r" b="b"/>
            <a:pathLst>
              <a:path w="229694" h="4941258">
                <a:moveTo>
                  <a:pt x="0" y="0"/>
                </a:moveTo>
                <a:lnTo>
                  <a:pt x="229694" y="0"/>
                </a:lnTo>
                <a:lnTo>
                  <a:pt x="22969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9144000" y="4493047"/>
            <a:ext cx="218756" cy="4941258"/>
          </a:xfrm>
          <a:custGeom>
            <a:avLst/>
            <a:gdLst/>
            <a:ahLst/>
            <a:cxnLst/>
            <a:rect l="l" t="t" r="r" b="b"/>
            <a:pathLst>
              <a:path w="218756" h="4941258">
                <a:moveTo>
                  <a:pt x="0" y="0"/>
                </a:moveTo>
                <a:lnTo>
                  <a:pt x="218756" y="0"/>
                </a:lnTo>
                <a:lnTo>
                  <a:pt x="218756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1320622" y="4493047"/>
            <a:ext cx="218756" cy="4941258"/>
          </a:xfrm>
          <a:custGeom>
            <a:avLst/>
            <a:gdLst/>
            <a:ahLst/>
            <a:cxnLst/>
            <a:rect l="l" t="t" r="r" b="b"/>
            <a:pathLst>
              <a:path w="218756" h="4941258">
                <a:moveTo>
                  <a:pt x="0" y="0"/>
                </a:moveTo>
                <a:lnTo>
                  <a:pt x="218756" y="0"/>
                </a:lnTo>
                <a:lnTo>
                  <a:pt x="218756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3497244" y="4493047"/>
            <a:ext cx="218756" cy="4941258"/>
          </a:xfrm>
          <a:custGeom>
            <a:avLst/>
            <a:gdLst/>
            <a:ahLst/>
            <a:cxnLst/>
            <a:rect l="l" t="t" r="r" b="b"/>
            <a:pathLst>
              <a:path w="218756" h="4941258">
                <a:moveTo>
                  <a:pt x="0" y="0"/>
                </a:moveTo>
                <a:lnTo>
                  <a:pt x="218756" y="0"/>
                </a:lnTo>
                <a:lnTo>
                  <a:pt x="218756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5673866" y="4493047"/>
            <a:ext cx="229694" cy="4941258"/>
          </a:xfrm>
          <a:custGeom>
            <a:avLst/>
            <a:gdLst/>
            <a:ahLst/>
            <a:cxnLst/>
            <a:rect l="l" t="t" r="r" b="b"/>
            <a:pathLst>
              <a:path w="229694" h="4941258">
                <a:moveTo>
                  <a:pt x="0" y="0"/>
                </a:moveTo>
                <a:lnTo>
                  <a:pt x="229694" y="0"/>
                </a:lnTo>
                <a:lnTo>
                  <a:pt x="229694" y="4941258"/>
                </a:lnTo>
                <a:lnTo>
                  <a:pt x="0" y="4941258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987552" y="4923054"/>
            <a:ext cx="1060704" cy="2999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1"/>
              </a:lnSpc>
            </a:pPr>
            <a:r>
              <a:rPr lang="en-US" sz="174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Select city</a:t>
            </a:r>
          </a:p>
        </p:txBody>
      </p:sp>
      <p:sp>
        <p:nvSpPr>
          <p:cNvPr id="17" name="Freeform 17"/>
          <p:cNvSpPr/>
          <p:nvPr/>
        </p:nvSpPr>
        <p:spPr>
          <a:xfrm>
            <a:off x="426574" y="5990729"/>
            <a:ext cx="2187560" cy="1945894"/>
          </a:xfrm>
          <a:custGeom>
            <a:avLst/>
            <a:gdLst/>
            <a:ahLst/>
            <a:cxnLst/>
            <a:rect l="l" t="t" r="r" b="b"/>
            <a:pathLst>
              <a:path w="2187560" h="1945894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969264" y="8189769"/>
            <a:ext cx="1060704" cy="5250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83"/>
              </a:lnSpc>
            </a:pPr>
            <a:r>
              <a:rPr lang="en-US" sz="14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Choose your pickup city.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584448" y="4220587"/>
            <a:ext cx="292608" cy="6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90672" y="4924790"/>
            <a:ext cx="1280160" cy="60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Discover</a:t>
            </a:r>
          </a:p>
          <a:p>
            <a:pPr algn="ctr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rental shops</a:t>
            </a:r>
          </a:p>
        </p:txBody>
      </p:sp>
      <p:sp>
        <p:nvSpPr>
          <p:cNvPr id="21" name="Freeform 21"/>
          <p:cNvSpPr/>
          <p:nvPr/>
        </p:nvSpPr>
        <p:spPr>
          <a:xfrm>
            <a:off x="2603196" y="5990729"/>
            <a:ext cx="2187560" cy="1945894"/>
          </a:xfrm>
          <a:custGeom>
            <a:avLst/>
            <a:gdLst/>
            <a:ahLst/>
            <a:cxnLst/>
            <a:rect l="l" t="t" r="r" b="b"/>
            <a:pathLst>
              <a:path w="2187560" h="1945894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2999232" y="8213481"/>
            <a:ext cx="1499616" cy="755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sz="14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Find trusted rental shops in your selected city.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97296" y="4220587"/>
            <a:ext cx="292608" cy="6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084064" y="4924790"/>
            <a:ext cx="1810512" cy="60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Browse</a:t>
            </a:r>
          </a:p>
          <a:p>
            <a:pPr algn="ctr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available vehicles</a:t>
            </a:r>
          </a:p>
        </p:txBody>
      </p:sp>
      <p:sp>
        <p:nvSpPr>
          <p:cNvPr id="25" name="Freeform 25"/>
          <p:cNvSpPr/>
          <p:nvPr/>
        </p:nvSpPr>
        <p:spPr>
          <a:xfrm>
            <a:off x="4998574" y="5990729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5266944" y="8213106"/>
            <a:ext cx="1353312" cy="756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lang="en-US" sz="142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Explore vehicle options and compare details.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973568" y="4220587"/>
            <a:ext cx="292608" cy="6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4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424928" y="4924790"/>
            <a:ext cx="1426464" cy="6050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Register with</a:t>
            </a:r>
          </a:p>
          <a:p>
            <a:pPr algn="ctr">
              <a:lnSpc>
                <a:spcPts val="2494"/>
              </a:lnSpc>
            </a:pPr>
            <a:r>
              <a:rPr lang="en-US" sz="1781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selected shop</a:t>
            </a:r>
          </a:p>
        </p:txBody>
      </p:sp>
      <p:sp>
        <p:nvSpPr>
          <p:cNvPr id="29" name="Freeform 29"/>
          <p:cNvSpPr/>
          <p:nvPr/>
        </p:nvSpPr>
        <p:spPr>
          <a:xfrm>
            <a:off x="7175196" y="5990729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7516368" y="8172664"/>
            <a:ext cx="1261872" cy="8274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08"/>
              </a:lnSpc>
            </a:pPr>
            <a:r>
              <a:rPr lang="en-US" sz="157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Provide basic information to register.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131552" y="4220587"/>
            <a:ext cx="292608" cy="6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5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9893808" y="4904811"/>
            <a:ext cx="749808" cy="635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Book a</a:t>
            </a:r>
          </a:p>
          <a:p>
            <a:pPr algn="ctr">
              <a:lnSpc>
                <a:spcPts val="2547"/>
              </a:lnSpc>
            </a:pPr>
            <a:r>
              <a:rPr lang="en-US" sz="181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vehicle</a:t>
            </a:r>
          </a:p>
        </p:txBody>
      </p:sp>
      <p:sp>
        <p:nvSpPr>
          <p:cNvPr id="33" name="Freeform 33"/>
          <p:cNvSpPr/>
          <p:nvPr/>
        </p:nvSpPr>
        <p:spPr>
          <a:xfrm>
            <a:off x="9351818" y="5990729"/>
            <a:ext cx="1979742" cy="1945894"/>
          </a:xfrm>
          <a:custGeom>
            <a:avLst/>
            <a:gdLst/>
            <a:ahLst/>
            <a:cxnLst/>
            <a:rect l="l" t="t" r="r" b="b"/>
            <a:pathLst>
              <a:path w="1979742" h="1945894">
                <a:moveTo>
                  <a:pt x="0" y="0"/>
                </a:moveTo>
                <a:lnTo>
                  <a:pt x="1979742" y="0"/>
                </a:lnTo>
                <a:lnTo>
                  <a:pt x="1979742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9656064" y="8197835"/>
            <a:ext cx="1225296" cy="78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Choose dates, confirm, and reserve.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2307824" y="4220587"/>
            <a:ext cx="292608" cy="6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6</a:t>
            </a:r>
          </a:p>
        </p:txBody>
      </p:sp>
      <p:sp>
        <p:nvSpPr>
          <p:cNvPr id="36" name="Freeform 36"/>
          <p:cNvSpPr/>
          <p:nvPr/>
        </p:nvSpPr>
        <p:spPr>
          <a:xfrm>
            <a:off x="11320622" y="5990729"/>
            <a:ext cx="2187560" cy="1945894"/>
          </a:xfrm>
          <a:custGeom>
            <a:avLst/>
            <a:gdLst/>
            <a:ahLst/>
            <a:cxnLst/>
            <a:rect l="l" t="t" r="r" b="b"/>
            <a:pathLst>
              <a:path w="2187560" h="1945894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7" name="TextBox 37"/>
          <p:cNvSpPr txBox="1"/>
          <p:nvPr/>
        </p:nvSpPr>
        <p:spPr>
          <a:xfrm>
            <a:off x="14484096" y="4220587"/>
            <a:ext cx="292608" cy="6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3716000" y="4986941"/>
            <a:ext cx="1865376" cy="7341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18"/>
              </a:lnSpc>
            </a:pPr>
            <a:r>
              <a:rPr lang="en-US" sz="1744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Staff verify documents and release the vehicle</a:t>
            </a:r>
          </a:p>
        </p:txBody>
      </p:sp>
      <p:sp>
        <p:nvSpPr>
          <p:cNvPr id="39" name="Freeform 39"/>
          <p:cNvSpPr/>
          <p:nvPr/>
        </p:nvSpPr>
        <p:spPr>
          <a:xfrm>
            <a:off x="13716000" y="5990729"/>
            <a:ext cx="1968804" cy="1945894"/>
          </a:xfrm>
          <a:custGeom>
            <a:avLst/>
            <a:gdLst/>
            <a:ahLst/>
            <a:cxnLst/>
            <a:rect l="l" t="t" r="r" b="b"/>
            <a:pathLst>
              <a:path w="1968804" h="1945894">
                <a:moveTo>
                  <a:pt x="0" y="0"/>
                </a:moveTo>
                <a:lnTo>
                  <a:pt x="1968804" y="0"/>
                </a:lnTo>
                <a:lnTo>
                  <a:pt x="1968804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40" name="TextBox 40"/>
          <p:cNvSpPr txBox="1"/>
          <p:nvPr/>
        </p:nvSpPr>
        <p:spPr>
          <a:xfrm>
            <a:off x="13972032" y="8231782"/>
            <a:ext cx="1353312" cy="100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42"/>
              </a:lnSpc>
            </a:pPr>
            <a:r>
              <a:rPr lang="en-US" sz="145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Our staff verify your documents and release the vehicle.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6660368" y="4220587"/>
            <a:ext cx="292608" cy="6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8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5892272" y="4904811"/>
            <a:ext cx="1865376" cy="6354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47"/>
              </a:lnSpc>
            </a:pPr>
            <a:r>
              <a:rPr lang="en-US" sz="181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Return inspection and settlement</a:t>
            </a:r>
          </a:p>
        </p:txBody>
      </p:sp>
      <p:sp>
        <p:nvSpPr>
          <p:cNvPr id="43" name="Freeform 43"/>
          <p:cNvSpPr/>
          <p:nvPr/>
        </p:nvSpPr>
        <p:spPr>
          <a:xfrm>
            <a:off x="15673866" y="5990729"/>
            <a:ext cx="2187560" cy="1945894"/>
          </a:xfrm>
          <a:custGeom>
            <a:avLst/>
            <a:gdLst/>
            <a:ahLst/>
            <a:cxnLst/>
            <a:rect l="l" t="t" r="r" b="b"/>
            <a:pathLst>
              <a:path w="2187560" h="1945894">
                <a:moveTo>
                  <a:pt x="0" y="0"/>
                </a:moveTo>
                <a:lnTo>
                  <a:pt x="2187560" y="0"/>
                </a:lnTo>
                <a:lnTo>
                  <a:pt x="2187560" y="1945894"/>
                </a:lnTo>
                <a:lnTo>
                  <a:pt x="0" y="1945894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6056864" y="8197835"/>
            <a:ext cx="1572768" cy="78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Vehicle inspection at return and final settlement.</a:t>
            </a:r>
          </a:p>
        </p:txBody>
      </p:sp>
      <p:sp>
        <p:nvSpPr>
          <p:cNvPr id="45" name="Freeform 45"/>
          <p:cNvSpPr/>
          <p:nvPr/>
        </p:nvSpPr>
        <p:spPr>
          <a:xfrm>
            <a:off x="2384440" y="6635716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4572000" y="6635716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6748622" y="6635716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8925244" y="6635716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0883110" y="6635716"/>
            <a:ext cx="656268" cy="655919"/>
          </a:xfrm>
          <a:custGeom>
            <a:avLst/>
            <a:gdLst/>
            <a:ahLst/>
            <a:cxnLst/>
            <a:rect l="l" t="t" r="r" b="b"/>
            <a:pathLst>
              <a:path w="656268" h="655919">
                <a:moveTo>
                  <a:pt x="0" y="0"/>
                </a:moveTo>
                <a:lnTo>
                  <a:pt x="656268" y="0"/>
                </a:lnTo>
                <a:lnTo>
                  <a:pt x="656268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3278488" y="6635716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15455110" y="6635716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52" name="TextBox 52"/>
          <p:cNvSpPr txBox="1"/>
          <p:nvPr/>
        </p:nvSpPr>
        <p:spPr>
          <a:xfrm>
            <a:off x="548640" y="386127"/>
            <a:ext cx="2121408" cy="2903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6"/>
              </a:lnSpc>
            </a:pPr>
            <a:r>
              <a:rPr lang="en-US" sz="169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Smart Vehicle Rental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408176" y="4220587"/>
            <a:ext cx="219456" cy="627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448288" y="4855862"/>
            <a:ext cx="1975104" cy="667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4"/>
              </a:lnSpc>
            </a:pPr>
            <a:r>
              <a:rPr lang="en-US" sz="1630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Submit identification and verification documents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686032" y="5630056"/>
            <a:ext cx="1426464" cy="425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69"/>
              </a:lnSpc>
            </a:pPr>
            <a:r>
              <a:rPr lang="en-US" sz="1517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PHYSICALLY AT</a:t>
            </a:r>
          </a:p>
          <a:p>
            <a:pPr algn="ctr">
              <a:lnSpc>
                <a:spcPts val="1669"/>
              </a:lnSpc>
            </a:pPr>
            <a:r>
              <a:rPr lang="en-US" sz="1517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THE SHOP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1631168" y="8197835"/>
            <a:ext cx="1572768" cy="786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25"/>
              </a:lnSpc>
            </a:pPr>
            <a:r>
              <a:rPr lang="en-US" sz="15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Bring your original documents to the shop in person.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1503152" y="9060255"/>
            <a:ext cx="1828800" cy="2440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415" b="1">
                <a:solidFill>
                  <a:srgbClr val="FF914D"/>
                </a:solidFill>
                <a:latin typeface="Roboto Bold"/>
                <a:ea typeface="Roboto Bold"/>
                <a:cs typeface="Roboto Bold"/>
                <a:sym typeface="Roboto Bold"/>
              </a:rPr>
              <a:t>Not uploaded digitally.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8640" y="922737"/>
            <a:ext cx="6766560" cy="19786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98"/>
              </a:lnSpc>
            </a:pPr>
            <a:r>
              <a:rPr lang="en-US" sz="7753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BOOKING, RETURNS AND FEE MANAGEMENT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2995365"/>
            <a:ext cx="1542230" cy="229572"/>
          </a:xfrm>
          <a:custGeom>
            <a:avLst/>
            <a:gdLst/>
            <a:ahLst/>
            <a:cxnLst/>
            <a:rect l="l" t="t" r="r" b="b"/>
            <a:pathLst>
              <a:path w="1542230" h="229572">
                <a:moveTo>
                  <a:pt x="0" y="0"/>
                </a:moveTo>
                <a:lnTo>
                  <a:pt x="1542230" y="0"/>
                </a:lnTo>
                <a:lnTo>
                  <a:pt x="1542230" y="229571"/>
                </a:lnTo>
                <a:lnTo>
                  <a:pt x="0" y="22957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3421712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4"/>
                </a:lnTo>
                <a:lnTo>
                  <a:pt x="0" y="1727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4086" y="3848060"/>
            <a:ext cx="885962" cy="1082267"/>
          </a:xfrm>
          <a:custGeom>
            <a:avLst/>
            <a:gdLst/>
            <a:ahLst/>
            <a:cxnLst/>
            <a:rect l="l" t="t" r="r" b="b"/>
            <a:pathLst>
              <a:path w="885962" h="1082267">
                <a:moveTo>
                  <a:pt x="0" y="0"/>
                </a:moveTo>
                <a:lnTo>
                  <a:pt x="885962" y="0"/>
                </a:lnTo>
                <a:lnTo>
                  <a:pt x="885962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249424" y="3593456"/>
            <a:ext cx="3346704" cy="44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 b="1" spc="57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1. BOOKING AND PAYMENT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249424" y="4108959"/>
            <a:ext cx="3218688" cy="10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Confirm vehicle availability, booking details, and payment status.</a:t>
            </a:r>
          </a:p>
        </p:txBody>
      </p:sp>
      <p:sp>
        <p:nvSpPr>
          <p:cNvPr id="9" name="Freeform 9"/>
          <p:cNvSpPr/>
          <p:nvPr/>
        </p:nvSpPr>
        <p:spPr>
          <a:xfrm>
            <a:off x="426574" y="5564382"/>
            <a:ext cx="1760986" cy="1727254"/>
          </a:xfrm>
          <a:custGeom>
            <a:avLst/>
            <a:gdLst/>
            <a:ahLst/>
            <a:cxnLst/>
            <a:rect l="l" t="t" r="r" b="b"/>
            <a:pathLst>
              <a:path w="1760986" h="1727254">
                <a:moveTo>
                  <a:pt x="0" y="0"/>
                </a:moveTo>
                <a:lnTo>
                  <a:pt x="1760986" y="0"/>
                </a:lnTo>
                <a:lnTo>
                  <a:pt x="1760986" y="1727253"/>
                </a:lnTo>
                <a:lnTo>
                  <a:pt x="0" y="172725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64086" y="5990729"/>
            <a:ext cx="885962" cy="874559"/>
          </a:xfrm>
          <a:custGeom>
            <a:avLst/>
            <a:gdLst/>
            <a:ahLst/>
            <a:cxnLst/>
            <a:rect l="l" t="t" r="r" b="b"/>
            <a:pathLst>
              <a:path w="885962" h="874559">
                <a:moveTo>
                  <a:pt x="0" y="0"/>
                </a:moveTo>
                <a:lnTo>
                  <a:pt x="885962" y="0"/>
                </a:lnTo>
                <a:lnTo>
                  <a:pt x="885962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249424" y="5609708"/>
            <a:ext cx="3035808" cy="44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 b="1" spc="57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2. RETURN MONITORING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249424" y="6135498"/>
            <a:ext cx="3364992" cy="10552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3"/>
              </a:lnSpc>
            </a:pPr>
            <a:r>
              <a:rPr lang="en-US" sz="20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Track agreed return dates and notify users about upcoming or overdue returns.</a:t>
            </a:r>
          </a:p>
        </p:txBody>
      </p:sp>
      <p:sp>
        <p:nvSpPr>
          <p:cNvPr id="13" name="Freeform 13"/>
          <p:cNvSpPr/>
          <p:nvPr/>
        </p:nvSpPr>
        <p:spPr>
          <a:xfrm>
            <a:off x="426574" y="7499343"/>
            <a:ext cx="1760986" cy="1716322"/>
          </a:xfrm>
          <a:custGeom>
            <a:avLst/>
            <a:gdLst/>
            <a:ahLst/>
            <a:cxnLst/>
            <a:rect l="l" t="t" r="r" b="b"/>
            <a:pathLst>
              <a:path w="1760986" h="1716322">
                <a:moveTo>
                  <a:pt x="0" y="0"/>
                </a:moveTo>
                <a:lnTo>
                  <a:pt x="1760986" y="0"/>
                </a:lnTo>
                <a:lnTo>
                  <a:pt x="1760986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864086" y="7925691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49424" y="7656821"/>
            <a:ext cx="3163824" cy="44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893" b="1" spc="57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3. FAIR FEE CALCULATION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249424" y="8212990"/>
            <a:ext cx="3913632" cy="1630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99"/>
              </a:lnSpc>
            </a:pPr>
            <a:r>
              <a:rPr lang="en-US" sz="185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Automatically calculate extra charges for late returns, inspect the vehicle at return, and apply damage or loss charges when its condition is worse than at rental.</a:t>
            </a:r>
          </a:p>
        </p:txBody>
      </p:sp>
      <p:sp>
        <p:nvSpPr>
          <p:cNvPr id="17" name="Freeform 17"/>
          <p:cNvSpPr/>
          <p:nvPr/>
        </p:nvSpPr>
        <p:spPr>
          <a:xfrm>
            <a:off x="6311110" y="1924030"/>
            <a:ext cx="11550316" cy="7936623"/>
          </a:xfrm>
          <a:custGeom>
            <a:avLst/>
            <a:gdLst/>
            <a:ahLst/>
            <a:cxnLst/>
            <a:rect l="l" t="t" r="r" b="b"/>
            <a:pathLst>
              <a:path w="11550316" h="7936623">
                <a:moveTo>
                  <a:pt x="0" y="0"/>
                </a:moveTo>
                <a:lnTo>
                  <a:pt x="11550316" y="0"/>
                </a:lnTo>
                <a:lnTo>
                  <a:pt x="11550316" y="7936622"/>
                </a:lnTo>
                <a:lnTo>
                  <a:pt x="0" y="7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831464" y="2569017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7022592" y="3587567"/>
            <a:ext cx="2596896" cy="26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73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BOOKING AND PAYMENT</a:t>
            </a:r>
          </a:p>
        </p:txBody>
      </p:sp>
      <p:sp>
        <p:nvSpPr>
          <p:cNvPr id="20" name="Freeform 20"/>
          <p:cNvSpPr/>
          <p:nvPr/>
        </p:nvSpPr>
        <p:spPr>
          <a:xfrm>
            <a:off x="8925244" y="2776725"/>
            <a:ext cx="2187560" cy="448211"/>
          </a:xfrm>
          <a:custGeom>
            <a:avLst/>
            <a:gdLst/>
            <a:ahLst/>
            <a:cxnLst/>
            <a:rect l="l" t="t" r="r" b="b"/>
            <a:pathLst>
              <a:path w="2187560" h="448211">
                <a:moveTo>
                  <a:pt x="0" y="0"/>
                </a:moveTo>
                <a:lnTo>
                  <a:pt x="2187560" y="0"/>
                </a:lnTo>
                <a:lnTo>
                  <a:pt x="2187560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1528440" y="2569017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11777472" y="2832218"/>
            <a:ext cx="182880" cy="44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893" b="1" spc="57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2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716768" y="3572576"/>
            <a:ext cx="2377440" cy="282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83"/>
              </a:lnSpc>
            </a:pPr>
            <a:r>
              <a:rPr lang="en-US" sz="181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RETURN MONITORING</a:t>
            </a:r>
          </a:p>
        </p:txBody>
      </p:sp>
      <p:sp>
        <p:nvSpPr>
          <p:cNvPr id="24" name="Freeform 24"/>
          <p:cNvSpPr/>
          <p:nvPr/>
        </p:nvSpPr>
        <p:spPr>
          <a:xfrm>
            <a:off x="12403464" y="2776725"/>
            <a:ext cx="2406316" cy="448211"/>
          </a:xfrm>
          <a:custGeom>
            <a:avLst/>
            <a:gdLst/>
            <a:ahLst/>
            <a:cxnLst/>
            <a:rect l="l" t="t" r="r" b="b"/>
            <a:pathLst>
              <a:path w="2406316" h="448211">
                <a:moveTo>
                  <a:pt x="0" y="0"/>
                </a:moveTo>
                <a:lnTo>
                  <a:pt x="2406316" y="0"/>
                </a:lnTo>
                <a:lnTo>
                  <a:pt x="2406316" y="448211"/>
                </a:lnTo>
                <a:lnTo>
                  <a:pt x="0" y="448211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017598" y="2569017"/>
            <a:ext cx="885962" cy="863627"/>
          </a:xfrm>
          <a:custGeom>
            <a:avLst/>
            <a:gdLst/>
            <a:ahLst/>
            <a:cxnLst/>
            <a:rect l="l" t="t" r="r" b="b"/>
            <a:pathLst>
              <a:path w="885962" h="863627">
                <a:moveTo>
                  <a:pt x="0" y="0"/>
                </a:moveTo>
                <a:lnTo>
                  <a:pt x="885962" y="0"/>
                </a:lnTo>
                <a:lnTo>
                  <a:pt x="88596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4209776" y="3578042"/>
            <a:ext cx="2505456" cy="27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4"/>
              </a:lnSpc>
            </a:pPr>
            <a:r>
              <a:rPr lang="en-US" sz="177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FAIR FEE CALCULATION</a:t>
            </a:r>
          </a:p>
        </p:txBody>
      </p:sp>
      <p:sp>
        <p:nvSpPr>
          <p:cNvPr id="27" name="Freeform 27"/>
          <p:cNvSpPr/>
          <p:nvPr/>
        </p:nvSpPr>
        <p:spPr>
          <a:xfrm>
            <a:off x="7175196" y="4066699"/>
            <a:ext cx="2406316" cy="2153601"/>
          </a:xfrm>
          <a:custGeom>
            <a:avLst/>
            <a:gdLst/>
            <a:ahLst/>
            <a:cxnLst/>
            <a:rect l="l" t="t" r="r" b="b"/>
            <a:pathLst>
              <a:path w="2406316" h="2153601">
                <a:moveTo>
                  <a:pt x="0" y="0"/>
                </a:moveTo>
                <a:lnTo>
                  <a:pt x="2406316" y="0"/>
                </a:lnTo>
                <a:lnTo>
                  <a:pt x="2406316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6748622" y="6209369"/>
            <a:ext cx="3270402" cy="863627"/>
          </a:xfrm>
          <a:custGeom>
            <a:avLst/>
            <a:gdLst/>
            <a:ahLst/>
            <a:cxnLst/>
            <a:rect l="l" t="t" r="r" b="b"/>
            <a:pathLst>
              <a:path w="3270402" h="863627">
                <a:moveTo>
                  <a:pt x="0" y="0"/>
                </a:moveTo>
                <a:lnTo>
                  <a:pt x="3270402" y="0"/>
                </a:lnTo>
                <a:lnTo>
                  <a:pt x="3270402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7175196" y="6428009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7772400" y="6591371"/>
            <a:ext cx="1261872" cy="26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73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CONFIRMED</a:t>
            </a:r>
          </a:p>
        </p:txBody>
      </p:sp>
      <p:sp>
        <p:nvSpPr>
          <p:cNvPr id="31" name="Freeform 31"/>
          <p:cNvSpPr/>
          <p:nvPr/>
        </p:nvSpPr>
        <p:spPr>
          <a:xfrm>
            <a:off x="6748622" y="7280704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6748622" y="7925691"/>
            <a:ext cx="437512" cy="437279"/>
          </a:xfrm>
          <a:custGeom>
            <a:avLst/>
            <a:gdLst/>
            <a:ahLst/>
            <a:cxnLst/>
            <a:rect l="l" t="t" r="r" b="b"/>
            <a:pathLst>
              <a:path w="437512" h="437279">
                <a:moveTo>
                  <a:pt x="0" y="0"/>
                </a:moveTo>
                <a:lnTo>
                  <a:pt x="437512" y="0"/>
                </a:lnTo>
                <a:lnTo>
                  <a:pt x="437512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7315200" y="7992132"/>
            <a:ext cx="2249424" cy="23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Booking details confirmed</a:t>
            </a:r>
          </a:p>
        </p:txBody>
      </p:sp>
      <p:sp>
        <p:nvSpPr>
          <p:cNvPr id="34" name="Freeform 34"/>
          <p:cNvSpPr/>
          <p:nvPr/>
        </p:nvSpPr>
        <p:spPr>
          <a:xfrm>
            <a:off x="6748622" y="8352038"/>
            <a:ext cx="437512" cy="655919"/>
          </a:xfrm>
          <a:custGeom>
            <a:avLst/>
            <a:gdLst/>
            <a:ahLst/>
            <a:cxnLst/>
            <a:rect l="l" t="t" r="r" b="b"/>
            <a:pathLst>
              <a:path w="437512" h="655919">
                <a:moveTo>
                  <a:pt x="0" y="0"/>
                </a:moveTo>
                <a:lnTo>
                  <a:pt x="437512" y="0"/>
                </a:lnTo>
                <a:lnTo>
                  <a:pt x="437512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7315200" y="8568204"/>
            <a:ext cx="1737360" cy="23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Payment successful</a:t>
            </a:r>
          </a:p>
        </p:txBody>
      </p:sp>
      <p:sp>
        <p:nvSpPr>
          <p:cNvPr id="36" name="Freeform 36"/>
          <p:cNvSpPr/>
          <p:nvPr/>
        </p:nvSpPr>
        <p:spPr>
          <a:xfrm>
            <a:off x="10226842" y="4285339"/>
            <a:ext cx="3062584" cy="1934962"/>
          </a:xfrm>
          <a:custGeom>
            <a:avLst/>
            <a:gdLst/>
            <a:ahLst/>
            <a:cxnLst/>
            <a:rect l="l" t="t" r="r" b="b"/>
            <a:pathLst>
              <a:path w="3062584" h="1934962">
                <a:moveTo>
                  <a:pt x="0" y="0"/>
                </a:moveTo>
                <a:lnTo>
                  <a:pt x="3062584" y="0"/>
                </a:lnTo>
                <a:lnTo>
                  <a:pt x="3062584" y="1934962"/>
                </a:lnTo>
                <a:lnTo>
                  <a:pt x="0" y="1934962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10445598" y="6209369"/>
            <a:ext cx="3062584" cy="863627"/>
          </a:xfrm>
          <a:custGeom>
            <a:avLst/>
            <a:gdLst/>
            <a:ahLst/>
            <a:cxnLst/>
            <a:rect l="l" t="t" r="r" b="b"/>
            <a:pathLst>
              <a:path w="3062584" h="863627">
                <a:moveTo>
                  <a:pt x="0" y="0"/>
                </a:moveTo>
                <a:lnTo>
                  <a:pt x="3062584" y="0"/>
                </a:lnTo>
                <a:lnTo>
                  <a:pt x="3062584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0883110" y="6428009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1393424" y="6591371"/>
            <a:ext cx="1426464" cy="2623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86"/>
              </a:lnSpc>
            </a:pPr>
            <a:r>
              <a:rPr lang="en-US" sz="1738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IN PROGRESS</a:t>
            </a:r>
          </a:p>
        </p:txBody>
      </p:sp>
      <p:sp>
        <p:nvSpPr>
          <p:cNvPr id="40" name="Freeform 40"/>
          <p:cNvSpPr/>
          <p:nvPr/>
        </p:nvSpPr>
        <p:spPr>
          <a:xfrm>
            <a:off x="10445598" y="728070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0445598" y="792569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10972800" y="7992132"/>
            <a:ext cx="2267712" cy="23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Upcoming return reminder</a:t>
            </a:r>
          </a:p>
        </p:txBody>
      </p:sp>
      <p:sp>
        <p:nvSpPr>
          <p:cNvPr id="43" name="Freeform 43"/>
          <p:cNvSpPr/>
          <p:nvPr/>
        </p:nvSpPr>
        <p:spPr>
          <a:xfrm>
            <a:off x="10445598" y="8352038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44" name="TextBox 44"/>
          <p:cNvSpPr txBox="1"/>
          <p:nvPr/>
        </p:nvSpPr>
        <p:spPr>
          <a:xfrm>
            <a:off x="10972800" y="8568204"/>
            <a:ext cx="1737360" cy="23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7"/>
              </a:lnSpc>
            </a:pPr>
            <a:r>
              <a:rPr lang="en-US" sz="15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Overdue return alert</a:t>
            </a:r>
          </a:p>
        </p:txBody>
      </p:sp>
      <p:sp>
        <p:nvSpPr>
          <p:cNvPr id="45" name="Freeform 45"/>
          <p:cNvSpPr/>
          <p:nvPr/>
        </p:nvSpPr>
        <p:spPr>
          <a:xfrm>
            <a:off x="14580086" y="4066699"/>
            <a:ext cx="1968804" cy="2153601"/>
          </a:xfrm>
          <a:custGeom>
            <a:avLst/>
            <a:gdLst/>
            <a:ahLst/>
            <a:cxnLst/>
            <a:rect l="l" t="t" r="r" b="b"/>
            <a:pathLst>
              <a:path w="1968804" h="2153601">
                <a:moveTo>
                  <a:pt x="0" y="0"/>
                </a:moveTo>
                <a:lnTo>
                  <a:pt x="1968804" y="0"/>
                </a:lnTo>
                <a:lnTo>
                  <a:pt x="1968804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3923818" y="6209369"/>
            <a:ext cx="3281340" cy="863627"/>
          </a:xfrm>
          <a:custGeom>
            <a:avLst/>
            <a:gdLst/>
            <a:ahLst/>
            <a:cxnLst/>
            <a:rect l="l" t="t" r="r" b="b"/>
            <a:pathLst>
              <a:path w="3281340" h="863627">
                <a:moveTo>
                  <a:pt x="0" y="0"/>
                </a:moveTo>
                <a:lnTo>
                  <a:pt x="3281340" y="0"/>
                </a:lnTo>
                <a:lnTo>
                  <a:pt x="3281340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7" name="Freeform 47"/>
          <p:cNvSpPr/>
          <p:nvPr/>
        </p:nvSpPr>
        <p:spPr>
          <a:xfrm>
            <a:off x="14361330" y="6428009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8" name="TextBox 48"/>
          <p:cNvSpPr txBox="1"/>
          <p:nvPr/>
        </p:nvSpPr>
        <p:spPr>
          <a:xfrm>
            <a:off x="14941296" y="6581846"/>
            <a:ext cx="950976" cy="2718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4"/>
              </a:lnSpc>
            </a:pPr>
            <a:r>
              <a:rPr lang="en-US" sz="1779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SETTLED</a:t>
            </a:r>
          </a:p>
        </p:txBody>
      </p:sp>
      <p:sp>
        <p:nvSpPr>
          <p:cNvPr id="49" name="Freeform 49"/>
          <p:cNvSpPr/>
          <p:nvPr/>
        </p:nvSpPr>
        <p:spPr>
          <a:xfrm>
            <a:off x="13923818" y="7280704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3923818" y="7925691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51" name="TextBox 51"/>
          <p:cNvSpPr txBox="1"/>
          <p:nvPr/>
        </p:nvSpPr>
        <p:spPr>
          <a:xfrm>
            <a:off x="14447520" y="7992132"/>
            <a:ext cx="1901952" cy="23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7"/>
              </a:lnSpc>
            </a:pPr>
            <a:r>
              <a:rPr lang="en-US" sz="15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Inspection completed</a:t>
            </a:r>
          </a:p>
        </p:txBody>
      </p:sp>
      <p:sp>
        <p:nvSpPr>
          <p:cNvPr id="52" name="Freeform 52"/>
          <p:cNvSpPr/>
          <p:nvPr/>
        </p:nvSpPr>
        <p:spPr>
          <a:xfrm>
            <a:off x="13923818" y="8352038"/>
            <a:ext cx="448450" cy="655919"/>
          </a:xfrm>
          <a:custGeom>
            <a:avLst/>
            <a:gdLst/>
            <a:ahLst/>
            <a:cxnLst/>
            <a:rect l="l" t="t" r="r" b="b"/>
            <a:pathLst>
              <a:path w="448450" h="655919">
                <a:moveTo>
                  <a:pt x="0" y="0"/>
                </a:moveTo>
                <a:lnTo>
                  <a:pt x="448450" y="0"/>
                </a:lnTo>
                <a:lnTo>
                  <a:pt x="44845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53" name="TextBox 53"/>
          <p:cNvSpPr txBox="1"/>
          <p:nvPr/>
        </p:nvSpPr>
        <p:spPr>
          <a:xfrm>
            <a:off x="14447520" y="8568204"/>
            <a:ext cx="2670048" cy="23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Damage / loss charges applied</a:t>
            </a:r>
          </a:p>
        </p:txBody>
      </p:sp>
      <p:sp>
        <p:nvSpPr>
          <p:cNvPr id="54" name="Freeform 54"/>
          <p:cNvSpPr/>
          <p:nvPr/>
        </p:nvSpPr>
        <p:spPr>
          <a:xfrm>
            <a:off x="13923818" y="8997026"/>
            <a:ext cx="448450" cy="437279"/>
          </a:xfrm>
          <a:custGeom>
            <a:avLst/>
            <a:gdLst/>
            <a:ahLst/>
            <a:cxnLst/>
            <a:rect l="l" t="t" r="r" b="b"/>
            <a:pathLst>
              <a:path w="448450" h="437279">
                <a:moveTo>
                  <a:pt x="0" y="0"/>
                </a:moveTo>
                <a:lnTo>
                  <a:pt x="448450" y="0"/>
                </a:lnTo>
                <a:lnTo>
                  <a:pt x="448450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14447520" y="9123702"/>
            <a:ext cx="2103120" cy="23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7"/>
              </a:lnSpc>
            </a:pPr>
            <a:r>
              <a:rPr lang="en-US" sz="15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Final amount calculated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8229600" y="2832218"/>
            <a:ext cx="182880" cy="44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893" b="1" spc="57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5343632" y="2832218"/>
            <a:ext cx="182880" cy="446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1"/>
              </a:lnSpc>
            </a:pPr>
            <a:r>
              <a:rPr lang="en-US" sz="2893" b="1" spc="57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3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315200" y="7452387"/>
            <a:ext cx="1426464" cy="228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86"/>
              </a:lnSpc>
            </a:pPr>
            <a:r>
              <a:rPr lang="en-US" sz="1488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Vehicle available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972800" y="7446921"/>
            <a:ext cx="1042416" cy="23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1"/>
              </a:lnSpc>
            </a:pPr>
            <a:r>
              <a:rPr lang="en-US" sz="151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Return date: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4447520" y="7446921"/>
            <a:ext cx="1700784" cy="2390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57"/>
              </a:lnSpc>
            </a:pPr>
            <a:r>
              <a:rPr lang="en-US" sz="154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Late return charges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8640" y="667878"/>
            <a:ext cx="11466576" cy="1009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5"/>
              </a:lnSpc>
            </a:pPr>
            <a:r>
              <a:rPr lang="en-US" sz="7545" b="1">
                <a:solidFill>
                  <a:srgbClr val="FFFFFF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Expected Benefits and Future Scope</a:t>
            </a:r>
          </a:p>
        </p:txBody>
      </p:sp>
      <p:sp>
        <p:nvSpPr>
          <p:cNvPr id="4" name="Freeform 4"/>
          <p:cNvSpPr/>
          <p:nvPr/>
        </p:nvSpPr>
        <p:spPr>
          <a:xfrm>
            <a:off x="426574" y="1497682"/>
            <a:ext cx="1760986" cy="437279"/>
          </a:xfrm>
          <a:custGeom>
            <a:avLst/>
            <a:gdLst/>
            <a:ahLst/>
            <a:cxnLst/>
            <a:rect l="l" t="t" r="r" b="b"/>
            <a:pathLst>
              <a:path w="1760986" h="437279">
                <a:moveTo>
                  <a:pt x="0" y="0"/>
                </a:moveTo>
                <a:lnTo>
                  <a:pt x="1760986" y="0"/>
                </a:lnTo>
                <a:lnTo>
                  <a:pt x="1760986" y="437280"/>
                </a:lnTo>
                <a:lnTo>
                  <a:pt x="0" y="437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26574" y="1924030"/>
            <a:ext cx="7197072" cy="6438940"/>
          </a:xfrm>
          <a:custGeom>
            <a:avLst/>
            <a:gdLst/>
            <a:ahLst/>
            <a:cxnLst/>
            <a:rect l="l" t="t" r="r" b="b"/>
            <a:pathLst>
              <a:path w="7197072" h="6438940">
                <a:moveTo>
                  <a:pt x="0" y="0"/>
                </a:moveTo>
                <a:lnTo>
                  <a:pt x="7197072" y="0"/>
                </a:lnTo>
                <a:lnTo>
                  <a:pt x="7197072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864086" y="2142670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993392" y="2423232"/>
            <a:ext cx="2907792" cy="5808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3"/>
              </a:lnSpc>
            </a:pPr>
            <a:r>
              <a:rPr lang="en-US" sz="3373" b="1" spc="-101" dirty="0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PROJECT </a:t>
            </a:r>
            <a:r>
              <a:rPr lang="en-US" sz="3373" b="1" spc="-101" dirty="0">
                <a:solidFill>
                  <a:srgbClr val="F48A3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IMPACT</a:t>
            </a:r>
          </a:p>
        </p:txBody>
      </p:sp>
      <p:sp>
        <p:nvSpPr>
          <p:cNvPr id="8" name="Freeform 8"/>
          <p:cNvSpPr/>
          <p:nvPr/>
        </p:nvSpPr>
        <p:spPr>
          <a:xfrm>
            <a:off x="864086" y="321400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082842" y="3421712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957866" y="3214004"/>
            <a:ext cx="5228268" cy="1082267"/>
          </a:xfrm>
          <a:custGeom>
            <a:avLst/>
            <a:gdLst/>
            <a:ahLst/>
            <a:cxnLst/>
            <a:rect l="l" t="t" r="r" b="b"/>
            <a:pathLst>
              <a:path w="5228268" h="1082267">
                <a:moveTo>
                  <a:pt x="0" y="0"/>
                </a:moveTo>
                <a:lnTo>
                  <a:pt x="5228268" y="0"/>
                </a:lnTo>
                <a:lnTo>
                  <a:pt x="522826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267712" y="3544077"/>
            <a:ext cx="4718304" cy="39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 b="1" spc="-6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Reduced manual work for rental shops</a:t>
            </a:r>
          </a:p>
        </p:txBody>
      </p:sp>
      <p:sp>
        <p:nvSpPr>
          <p:cNvPr id="12" name="Freeform 12"/>
          <p:cNvSpPr/>
          <p:nvPr/>
        </p:nvSpPr>
        <p:spPr>
          <a:xfrm>
            <a:off x="864086" y="4285339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1082842" y="4285339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957866" y="4285339"/>
            <a:ext cx="5228268" cy="863627"/>
          </a:xfrm>
          <a:custGeom>
            <a:avLst/>
            <a:gdLst/>
            <a:ahLst/>
            <a:cxnLst/>
            <a:rect l="l" t="t" r="r" b="b"/>
            <a:pathLst>
              <a:path w="5228268" h="863627">
                <a:moveTo>
                  <a:pt x="0" y="0"/>
                </a:moveTo>
                <a:lnTo>
                  <a:pt x="5228268" y="0"/>
                </a:lnTo>
                <a:lnTo>
                  <a:pt x="5228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2267712" y="4511055"/>
            <a:ext cx="3364992" cy="394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276" b="1" spc="-68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Faster city-based discovery</a:t>
            </a:r>
          </a:p>
        </p:txBody>
      </p:sp>
      <p:sp>
        <p:nvSpPr>
          <p:cNvPr id="16" name="Freeform 16"/>
          <p:cNvSpPr/>
          <p:nvPr/>
        </p:nvSpPr>
        <p:spPr>
          <a:xfrm>
            <a:off x="864086" y="513803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082842" y="5356674"/>
            <a:ext cx="667206" cy="644987"/>
          </a:xfrm>
          <a:custGeom>
            <a:avLst/>
            <a:gdLst/>
            <a:ahLst/>
            <a:cxnLst/>
            <a:rect l="l" t="t" r="r" b="b"/>
            <a:pathLst>
              <a:path w="667206" h="644987">
                <a:moveTo>
                  <a:pt x="0" y="0"/>
                </a:moveTo>
                <a:lnTo>
                  <a:pt x="667206" y="0"/>
                </a:lnTo>
                <a:lnTo>
                  <a:pt x="667206" y="644987"/>
                </a:lnTo>
                <a:lnTo>
                  <a:pt x="0" y="6449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957866" y="5138034"/>
            <a:ext cx="5228268" cy="1082267"/>
          </a:xfrm>
          <a:custGeom>
            <a:avLst/>
            <a:gdLst/>
            <a:ahLst/>
            <a:cxnLst/>
            <a:rect l="l" t="t" r="r" b="b"/>
            <a:pathLst>
              <a:path w="5228268" h="1082267">
                <a:moveTo>
                  <a:pt x="0" y="0"/>
                </a:moveTo>
                <a:lnTo>
                  <a:pt x="5228268" y="0"/>
                </a:lnTo>
                <a:lnTo>
                  <a:pt x="522826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</p:sp>
      <p:sp>
        <p:nvSpPr>
          <p:cNvPr id="19" name="TextBox 19"/>
          <p:cNvSpPr txBox="1"/>
          <p:nvPr/>
        </p:nvSpPr>
        <p:spPr>
          <a:xfrm>
            <a:off x="2267712" y="5489423"/>
            <a:ext cx="2560320" cy="40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3" b="1" spc="-6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Transparent charges</a:t>
            </a:r>
          </a:p>
        </p:txBody>
      </p:sp>
      <p:sp>
        <p:nvSpPr>
          <p:cNvPr id="20" name="Freeform 20"/>
          <p:cNvSpPr/>
          <p:nvPr/>
        </p:nvSpPr>
        <p:spPr>
          <a:xfrm>
            <a:off x="864086" y="6209369"/>
            <a:ext cx="1104718" cy="863627"/>
          </a:xfrm>
          <a:custGeom>
            <a:avLst/>
            <a:gdLst/>
            <a:ahLst/>
            <a:cxnLst/>
            <a:rect l="l" t="t" r="r" b="b"/>
            <a:pathLst>
              <a:path w="1104718" h="863627">
                <a:moveTo>
                  <a:pt x="0" y="0"/>
                </a:moveTo>
                <a:lnTo>
                  <a:pt x="1104718" y="0"/>
                </a:lnTo>
                <a:lnTo>
                  <a:pt x="110471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82842" y="6209369"/>
            <a:ext cx="667206" cy="863627"/>
          </a:xfrm>
          <a:custGeom>
            <a:avLst/>
            <a:gdLst/>
            <a:ahLst/>
            <a:cxnLst/>
            <a:rect l="l" t="t" r="r" b="b"/>
            <a:pathLst>
              <a:path w="667206" h="863627">
                <a:moveTo>
                  <a:pt x="0" y="0"/>
                </a:moveTo>
                <a:lnTo>
                  <a:pt x="667206" y="0"/>
                </a:lnTo>
                <a:lnTo>
                  <a:pt x="66720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957866" y="6209369"/>
            <a:ext cx="5228268" cy="863627"/>
          </a:xfrm>
          <a:custGeom>
            <a:avLst/>
            <a:gdLst/>
            <a:ahLst/>
            <a:cxnLst/>
            <a:rect l="l" t="t" r="r" b="b"/>
            <a:pathLst>
              <a:path w="5228268" h="863627">
                <a:moveTo>
                  <a:pt x="0" y="0"/>
                </a:moveTo>
                <a:lnTo>
                  <a:pt x="5228268" y="0"/>
                </a:lnTo>
                <a:lnTo>
                  <a:pt x="522826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2267712" y="6466688"/>
            <a:ext cx="3858768" cy="403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5"/>
              </a:lnSpc>
            </a:pPr>
            <a:r>
              <a:rPr lang="en-US" sz="2303" b="1" spc="-6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Improved booking coordination</a:t>
            </a:r>
          </a:p>
        </p:txBody>
      </p:sp>
      <p:sp>
        <p:nvSpPr>
          <p:cNvPr id="24" name="Freeform 24"/>
          <p:cNvSpPr/>
          <p:nvPr/>
        </p:nvSpPr>
        <p:spPr>
          <a:xfrm>
            <a:off x="864086" y="7062064"/>
            <a:ext cx="1104718" cy="1082267"/>
          </a:xfrm>
          <a:custGeom>
            <a:avLst/>
            <a:gdLst/>
            <a:ahLst/>
            <a:cxnLst/>
            <a:rect l="l" t="t" r="r" b="b"/>
            <a:pathLst>
              <a:path w="1104718" h="1082267">
                <a:moveTo>
                  <a:pt x="0" y="0"/>
                </a:moveTo>
                <a:lnTo>
                  <a:pt x="1104718" y="0"/>
                </a:lnTo>
                <a:lnTo>
                  <a:pt x="110471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082842" y="7280704"/>
            <a:ext cx="667206" cy="655919"/>
          </a:xfrm>
          <a:custGeom>
            <a:avLst/>
            <a:gdLst/>
            <a:ahLst/>
            <a:cxnLst/>
            <a:rect l="l" t="t" r="r" b="b"/>
            <a:pathLst>
              <a:path w="667206" h="655919">
                <a:moveTo>
                  <a:pt x="0" y="0"/>
                </a:moveTo>
                <a:lnTo>
                  <a:pt x="667206" y="0"/>
                </a:lnTo>
                <a:lnTo>
                  <a:pt x="667206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957866" y="7062064"/>
            <a:ext cx="5228268" cy="1082267"/>
          </a:xfrm>
          <a:custGeom>
            <a:avLst/>
            <a:gdLst/>
            <a:ahLst/>
            <a:cxnLst/>
            <a:rect l="l" t="t" r="r" b="b"/>
            <a:pathLst>
              <a:path w="5228268" h="1082267">
                <a:moveTo>
                  <a:pt x="0" y="0"/>
                </a:moveTo>
                <a:lnTo>
                  <a:pt x="5228268" y="0"/>
                </a:lnTo>
                <a:lnTo>
                  <a:pt x="5228268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/>
            </a:stretch>
          </a:blipFill>
        </p:spPr>
      </p:sp>
      <p:sp>
        <p:nvSpPr>
          <p:cNvPr id="27" name="TextBox 27"/>
          <p:cNvSpPr txBox="1"/>
          <p:nvPr/>
        </p:nvSpPr>
        <p:spPr>
          <a:xfrm>
            <a:off x="2267712" y="7434008"/>
            <a:ext cx="2706624" cy="4024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63"/>
              </a:lnSpc>
            </a:pPr>
            <a:r>
              <a:rPr lang="en-US" sz="2330" b="1" spc="-6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Better fleet utilization</a:t>
            </a:r>
          </a:p>
        </p:txBody>
      </p:sp>
      <p:sp>
        <p:nvSpPr>
          <p:cNvPr id="28" name="Freeform 28"/>
          <p:cNvSpPr/>
          <p:nvPr/>
        </p:nvSpPr>
        <p:spPr>
          <a:xfrm>
            <a:off x="7831464" y="1924030"/>
            <a:ext cx="6322048" cy="6438940"/>
          </a:xfrm>
          <a:custGeom>
            <a:avLst/>
            <a:gdLst/>
            <a:ahLst/>
            <a:cxnLst/>
            <a:rect l="l" t="t" r="r" b="b"/>
            <a:pathLst>
              <a:path w="6322048" h="6438940">
                <a:moveTo>
                  <a:pt x="0" y="0"/>
                </a:moveTo>
                <a:lnTo>
                  <a:pt x="6322048" y="0"/>
                </a:lnTo>
                <a:lnTo>
                  <a:pt x="6322048" y="6438940"/>
                </a:lnTo>
                <a:lnTo>
                  <a:pt x="0" y="6438940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8268976" y="2142670"/>
            <a:ext cx="1093780" cy="1082267"/>
          </a:xfrm>
          <a:custGeom>
            <a:avLst/>
            <a:gdLst/>
            <a:ahLst/>
            <a:cxnLst/>
            <a:rect l="l" t="t" r="r" b="b"/>
            <a:pathLst>
              <a:path w="1093780" h="1082267">
                <a:moveTo>
                  <a:pt x="0" y="0"/>
                </a:moveTo>
                <a:lnTo>
                  <a:pt x="1093780" y="0"/>
                </a:lnTo>
                <a:lnTo>
                  <a:pt x="1093780" y="1082266"/>
                </a:lnTo>
                <a:lnTo>
                  <a:pt x="0" y="1082266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/>
            </a:stretch>
          </a:blipFill>
        </p:spPr>
      </p:sp>
      <p:sp>
        <p:nvSpPr>
          <p:cNvPr id="30" name="TextBox 30"/>
          <p:cNvSpPr txBox="1"/>
          <p:nvPr/>
        </p:nvSpPr>
        <p:spPr>
          <a:xfrm>
            <a:off x="9345168" y="2418064"/>
            <a:ext cx="2523744" cy="591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6"/>
              </a:lnSpc>
            </a:pPr>
            <a:r>
              <a:rPr lang="en-US" sz="3397" b="1" spc="-101">
                <a:solidFill>
                  <a:srgbClr val="FFFFFF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FUTURE </a:t>
            </a:r>
            <a:r>
              <a:rPr lang="en-US" sz="3397" b="1" spc="-101">
                <a:solidFill>
                  <a:srgbClr val="F48A38"/>
                </a:solidFill>
                <a:latin typeface="Roboto Condensed Bold"/>
                <a:ea typeface="Roboto Condensed Bold"/>
                <a:cs typeface="Roboto Condensed Bold"/>
                <a:sym typeface="Roboto Condensed Bold"/>
              </a:rPr>
              <a:t>SCOPE</a:t>
            </a:r>
          </a:p>
        </p:txBody>
      </p:sp>
      <p:sp>
        <p:nvSpPr>
          <p:cNvPr id="31" name="Freeform 31"/>
          <p:cNvSpPr/>
          <p:nvPr/>
        </p:nvSpPr>
        <p:spPr>
          <a:xfrm>
            <a:off x="8268976" y="3214004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>
            <a:off x="8487732" y="3421712"/>
            <a:ext cx="875024" cy="874559"/>
          </a:xfrm>
          <a:custGeom>
            <a:avLst/>
            <a:gdLst/>
            <a:ahLst/>
            <a:cxnLst/>
            <a:rect l="l" t="t" r="r" b="b"/>
            <a:pathLst>
              <a:path w="875024" h="874559">
                <a:moveTo>
                  <a:pt x="0" y="0"/>
                </a:moveTo>
                <a:lnTo>
                  <a:pt x="875024" y="0"/>
                </a:lnTo>
                <a:lnTo>
                  <a:pt x="87502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24"/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>
            <a:off x="9351818" y="3214004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5"/>
            <a:stretch>
              <a:fillRect/>
            </a:stretch>
          </a:blipFill>
        </p:spPr>
      </p:sp>
      <p:sp>
        <p:nvSpPr>
          <p:cNvPr id="34" name="TextBox 34"/>
          <p:cNvSpPr txBox="1"/>
          <p:nvPr/>
        </p:nvSpPr>
        <p:spPr>
          <a:xfrm>
            <a:off x="9729216" y="3518850"/>
            <a:ext cx="3730752" cy="709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4"/>
              </a:lnSpc>
            </a:pPr>
            <a:r>
              <a:rPr lang="en-US" sz="2303" b="1" spc="-69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AI-assisted damage detection from inspection images</a:t>
            </a:r>
          </a:p>
        </p:txBody>
      </p:sp>
      <p:sp>
        <p:nvSpPr>
          <p:cNvPr id="35" name="Freeform 35"/>
          <p:cNvSpPr/>
          <p:nvPr/>
        </p:nvSpPr>
        <p:spPr>
          <a:xfrm>
            <a:off x="8268976" y="4285339"/>
            <a:ext cx="1312536" cy="863627"/>
          </a:xfrm>
          <a:custGeom>
            <a:avLst/>
            <a:gdLst/>
            <a:ahLst/>
            <a:cxnLst/>
            <a:rect l="l" t="t" r="r" b="b"/>
            <a:pathLst>
              <a:path w="1312536" h="863627">
                <a:moveTo>
                  <a:pt x="0" y="0"/>
                </a:moveTo>
                <a:lnTo>
                  <a:pt x="1312536" y="0"/>
                </a:lnTo>
                <a:lnTo>
                  <a:pt x="131253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6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8487732" y="4711687"/>
            <a:ext cx="656268" cy="863627"/>
          </a:xfrm>
          <a:custGeom>
            <a:avLst/>
            <a:gdLst/>
            <a:ahLst/>
            <a:cxnLst/>
            <a:rect l="l" t="t" r="r" b="b"/>
            <a:pathLst>
              <a:path w="656268" h="863627">
                <a:moveTo>
                  <a:pt x="0" y="0"/>
                </a:moveTo>
                <a:lnTo>
                  <a:pt x="656268" y="0"/>
                </a:lnTo>
                <a:lnTo>
                  <a:pt x="656268" y="863626"/>
                </a:lnTo>
                <a:lnTo>
                  <a:pt x="0" y="863626"/>
                </a:lnTo>
                <a:lnTo>
                  <a:pt x="0" y="0"/>
                </a:lnTo>
                <a:close/>
              </a:path>
            </a:pathLst>
          </a:custGeom>
          <a:blipFill>
            <a:blip r:embed="rId27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9351818" y="4285339"/>
            <a:ext cx="4582938" cy="863627"/>
          </a:xfrm>
          <a:custGeom>
            <a:avLst/>
            <a:gdLst/>
            <a:ahLst/>
            <a:cxnLst/>
            <a:rect l="l" t="t" r="r" b="b"/>
            <a:pathLst>
              <a:path w="4582938" h="863627">
                <a:moveTo>
                  <a:pt x="0" y="0"/>
                </a:moveTo>
                <a:lnTo>
                  <a:pt x="4582938" y="0"/>
                </a:lnTo>
                <a:lnTo>
                  <a:pt x="458293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28"/>
            <a:stretch>
              <a:fillRect/>
            </a:stretch>
          </a:blipFill>
        </p:spPr>
      </p:sp>
      <p:sp>
        <p:nvSpPr>
          <p:cNvPr id="38" name="TextBox 38"/>
          <p:cNvSpPr txBox="1"/>
          <p:nvPr/>
        </p:nvSpPr>
        <p:spPr>
          <a:xfrm>
            <a:off x="9729216" y="4752645"/>
            <a:ext cx="3438144" cy="73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Demand forecasting by city and vehicle type</a:t>
            </a:r>
          </a:p>
        </p:txBody>
      </p:sp>
      <p:sp>
        <p:nvSpPr>
          <p:cNvPr id="39" name="Freeform 39"/>
          <p:cNvSpPr/>
          <p:nvPr/>
        </p:nvSpPr>
        <p:spPr>
          <a:xfrm>
            <a:off x="8268976" y="5138034"/>
            <a:ext cx="1312536" cy="1082267"/>
          </a:xfrm>
          <a:custGeom>
            <a:avLst/>
            <a:gdLst/>
            <a:ahLst/>
            <a:cxnLst/>
            <a:rect l="l" t="t" r="r" b="b"/>
            <a:pathLst>
              <a:path w="1312536" h="1082267">
                <a:moveTo>
                  <a:pt x="0" y="0"/>
                </a:moveTo>
                <a:lnTo>
                  <a:pt x="1312536" y="0"/>
                </a:lnTo>
                <a:lnTo>
                  <a:pt x="1312536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29"/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8487732" y="5783021"/>
            <a:ext cx="656268" cy="1082267"/>
          </a:xfrm>
          <a:custGeom>
            <a:avLst/>
            <a:gdLst/>
            <a:ahLst/>
            <a:cxnLst/>
            <a:rect l="l" t="t" r="r" b="b"/>
            <a:pathLst>
              <a:path w="656268" h="1082267">
                <a:moveTo>
                  <a:pt x="0" y="0"/>
                </a:moveTo>
                <a:lnTo>
                  <a:pt x="656268" y="0"/>
                </a:lnTo>
                <a:lnTo>
                  <a:pt x="65626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0"/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9351818" y="5138034"/>
            <a:ext cx="4582938" cy="1082267"/>
          </a:xfrm>
          <a:custGeom>
            <a:avLst/>
            <a:gdLst/>
            <a:ahLst/>
            <a:cxnLst/>
            <a:rect l="l" t="t" r="r" b="b"/>
            <a:pathLst>
              <a:path w="4582938" h="1082267">
                <a:moveTo>
                  <a:pt x="0" y="0"/>
                </a:moveTo>
                <a:lnTo>
                  <a:pt x="4582938" y="0"/>
                </a:lnTo>
                <a:lnTo>
                  <a:pt x="4582938" y="1082267"/>
                </a:lnTo>
                <a:lnTo>
                  <a:pt x="0" y="1082267"/>
                </a:lnTo>
                <a:lnTo>
                  <a:pt x="0" y="0"/>
                </a:lnTo>
                <a:close/>
              </a:path>
            </a:pathLst>
          </a:custGeom>
          <a:blipFill>
            <a:blip r:embed="rId31"/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9729216" y="6007659"/>
            <a:ext cx="3255264" cy="731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61"/>
              </a:lnSpc>
            </a:pPr>
            <a:r>
              <a:rPr lang="en-US" sz="2384" b="1" spc="-7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Dynamic pricing based on availability and usage</a:t>
            </a:r>
          </a:p>
        </p:txBody>
      </p:sp>
      <p:sp>
        <p:nvSpPr>
          <p:cNvPr id="43" name="Freeform 43"/>
          <p:cNvSpPr/>
          <p:nvPr/>
        </p:nvSpPr>
        <p:spPr>
          <a:xfrm>
            <a:off x="8268976" y="6209369"/>
            <a:ext cx="1312536" cy="863627"/>
          </a:xfrm>
          <a:custGeom>
            <a:avLst/>
            <a:gdLst/>
            <a:ahLst/>
            <a:cxnLst/>
            <a:rect l="l" t="t" r="r" b="b"/>
            <a:pathLst>
              <a:path w="1312536" h="863627">
                <a:moveTo>
                  <a:pt x="0" y="0"/>
                </a:moveTo>
                <a:lnTo>
                  <a:pt x="1312536" y="0"/>
                </a:lnTo>
                <a:lnTo>
                  <a:pt x="1312536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2"/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8487732" y="7062064"/>
            <a:ext cx="656268" cy="874559"/>
          </a:xfrm>
          <a:custGeom>
            <a:avLst/>
            <a:gdLst/>
            <a:ahLst/>
            <a:cxnLst/>
            <a:rect l="l" t="t" r="r" b="b"/>
            <a:pathLst>
              <a:path w="656268" h="874559">
                <a:moveTo>
                  <a:pt x="0" y="0"/>
                </a:moveTo>
                <a:lnTo>
                  <a:pt x="656268" y="0"/>
                </a:lnTo>
                <a:lnTo>
                  <a:pt x="656268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>
            <a:off x="9351818" y="6209369"/>
            <a:ext cx="4582938" cy="863627"/>
          </a:xfrm>
          <a:custGeom>
            <a:avLst/>
            <a:gdLst/>
            <a:ahLst/>
            <a:cxnLst/>
            <a:rect l="l" t="t" r="r" b="b"/>
            <a:pathLst>
              <a:path w="4582938" h="863627">
                <a:moveTo>
                  <a:pt x="0" y="0"/>
                </a:moveTo>
                <a:lnTo>
                  <a:pt x="4582938" y="0"/>
                </a:lnTo>
                <a:lnTo>
                  <a:pt x="4582938" y="863627"/>
                </a:lnTo>
                <a:lnTo>
                  <a:pt x="0" y="863627"/>
                </a:lnTo>
                <a:lnTo>
                  <a:pt x="0" y="0"/>
                </a:lnTo>
                <a:close/>
              </a:path>
            </a:pathLst>
          </a:custGeom>
          <a:blipFill>
            <a:blip r:embed="rId34"/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9729216" y="7326776"/>
            <a:ext cx="3291840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00"/>
              </a:lnSpc>
            </a:pPr>
            <a:r>
              <a:rPr lang="en-US" sz="2357" b="1" spc="-70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Analytics for shop owners</a:t>
            </a:r>
          </a:p>
        </p:txBody>
      </p:sp>
      <p:sp>
        <p:nvSpPr>
          <p:cNvPr id="47" name="Freeform 47"/>
          <p:cNvSpPr/>
          <p:nvPr/>
        </p:nvSpPr>
        <p:spPr>
          <a:xfrm>
            <a:off x="426574" y="8352038"/>
            <a:ext cx="13726938" cy="1508614"/>
          </a:xfrm>
          <a:custGeom>
            <a:avLst/>
            <a:gdLst/>
            <a:ahLst/>
            <a:cxnLst/>
            <a:rect l="l" t="t" r="r" b="b"/>
            <a:pathLst>
              <a:path w="13726938" h="1508614">
                <a:moveTo>
                  <a:pt x="0" y="0"/>
                </a:moveTo>
                <a:lnTo>
                  <a:pt x="13726938" y="0"/>
                </a:lnTo>
                <a:lnTo>
                  <a:pt x="13726938" y="1508614"/>
                </a:lnTo>
                <a:lnTo>
                  <a:pt x="0" y="1508614"/>
                </a:lnTo>
                <a:lnTo>
                  <a:pt x="0" y="0"/>
                </a:lnTo>
                <a:close/>
              </a:path>
            </a:pathLst>
          </a:custGeom>
          <a:blipFill>
            <a:blip r:embed="rId35"/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864086" y="8778386"/>
            <a:ext cx="2406316" cy="874559"/>
          </a:xfrm>
          <a:custGeom>
            <a:avLst/>
            <a:gdLst/>
            <a:ahLst/>
            <a:cxnLst/>
            <a:rect l="l" t="t" r="r" b="b"/>
            <a:pathLst>
              <a:path w="2406316" h="874559">
                <a:moveTo>
                  <a:pt x="0" y="0"/>
                </a:moveTo>
                <a:lnTo>
                  <a:pt x="2406316" y="0"/>
                </a:lnTo>
                <a:lnTo>
                  <a:pt x="2406316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6"/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3259464" y="8778386"/>
            <a:ext cx="229694" cy="874559"/>
          </a:xfrm>
          <a:custGeom>
            <a:avLst/>
            <a:gdLst/>
            <a:ahLst/>
            <a:cxnLst/>
            <a:rect l="l" t="t" r="r" b="b"/>
            <a:pathLst>
              <a:path w="229694" h="874559">
                <a:moveTo>
                  <a:pt x="0" y="0"/>
                </a:moveTo>
                <a:lnTo>
                  <a:pt x="229694" y="0"/>
                </a:lnTo>
                <a:lnTo>
                  <a:pt x="229694" y="874559"/>
                </a:lnTo>
                <a:lnTo>
                  <a:pt x="0" y="874559"/>
                </a:lnTo>
                <a:lnTo>
                  <a:pt x="0" y="0"/>
                </a:lnTo>
                <a:close/>
              </a:path>
            </a:pathLst>
          </a:custGeom>
          <a:blipFill>
            <a:blip r:embed="rId37"/>
            <a:stretch>
              <a:fillRect/>
            </a:stretch>
          </a:blipFill>
        </p:spPr>
      </p:sp>
      <p:sp>
        <p:nvSpPr>
          <p:cNvPr id="50" name="TextBox 50"/>
          <p:cNvSpPr txBox="1"/>
          <p:nvPr/>
        </p:nvSpPr>
        <p:spPr>
          <a:xfrm>
            <a:off x="3803904" y="8876283"/>
            <a:ext cx="9966960" cy="543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55"/>
              </a:lnSpc>
            </a:pPr>
            <a:r>
              <a:rPr lang="en-US" sz="3111" b="1" spc="-93">
                <a:solidFill>
                  <a:srgbClr val="F48A38"/>
                </a:solidFill>
                <a:latin typeface="Roboto Bold"/>
                <a:ea typeface="Roboto Bold"/>
                <a:cs typeface="Roboto Bold"/>
                <a:sym typeface="Roboto Bold"/>
              </a:rPr>
              <a:t>One platform </a:t>
            </a:r>
            <a:r>
              <a:rPr lang="en-US" sz="3111" b="1" spc="-93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for smarter, fairer vehicle rental management.</a:t>
            </a:r>
          </a:p>
        </p:txBody>
      </p:sp>
      <p:sp>
        <p:nvSpPr>
          <p:cNvPr id="51" name="Freeform 51"/>
          <p:cNvSpPr/>
          <p:nvPr/>
        </p:nvSpPr>
        <p:spPr>
          <a:xfrm>
            <a:off x="14798842" y="4285339"/>
            <a:ext cx="3489158" cy="3651284"/>
          </a:xfrm>
          <a:custGeom>
            <a:avLst/>
            <a:gdLst/>
            <a:ahLst/>
            <a:cxnLst/>
            <a:rect l="l" t="t" r="r" b="b"/>
            <a:pathLst>
              <a:path w="3489158" h="3651284">
                <a:moveTo>
                  <a:pt x="0" y="0"/>
                </a:moveTo>
                <a:lnTo>
                  <a:pt x="3489158" y="0"/>
                </a:lnTo>
                <a:lnTo>
                  <a:pt x="3489158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8"/>
            <a:stretch>
              <a:fillRect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784</Words>
  <Application>Microsoft Office PowerPoint</Application>
  <PresentationFormat>Custom</PresentationFormat>
  <Paragraphs>194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Roboto Condensed Bold</vt:lpstr>
      <vt:lpstr>Arial</vt:lpstr>
      <vt:lpstr>Bebas Neue</vt:lpstr>
      <vt:lpstr>Bebas Neue Bold</vt:lpstr>
      <vt:lpstr>Roboto Bold</vt:lpstr>
      <vt:lpstr>Roboto</vt:lpstr>
      <vt:lpstr>Calibri</vt:lpstr>
      <vt:lpstr>Office Theme</vt:lpstr>
      <vt:lpstr>Review - 2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Vehicle Rental</dc:title>
  <cp:lastModifiedBy>saikumar kompally</cp:lastModifiedBy>
  <cp:revision>3</cp:revision>
  <dcterms:created xsi:type="dcterms:W3CDTF">2006-08-16T00:00:00Z</dcterms:created>
  <dcterms:modified xsi:type="dcterms:W3CDTF">2026-10-28T13:56:42Z</dcterms:modified>
  <dc:identifier>DAHWNOdbjqE</dc:identifier>
</cp:coreProperties>
</file>