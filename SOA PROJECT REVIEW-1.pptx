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28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28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28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28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28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28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28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sv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1.png"/><Relationship Id="rId4" Type="http://schemas.openxmlformats.org/officeDocument/2006/relationships/hyperlink" Target="https://svgsilh.com/03a9f4/image/98809.html" TargetMode="Externa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Date&amp; Time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651428"/>
              </p:ext>
            </p:extLst>
          </p:nvPr>
        </p:nvGraphicFramePr>
        <p:xfrm>
          <a:off x="8193271" y="4448710"/>
          <a:ext cx="3702050" cy="2164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242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 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Names: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Gyaneshwar</a:t>
                      </a:r>
                      <a:endParaRPr lang="en-IN" sz="16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.Hari Prasanna </a:t>
                      </a:r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Teja</a:t>
                      </a:r>
                      <a:endParaRPr lang="en-IN" sz="16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.Dheeraj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Roll Numbers: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420030215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420030244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420090123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393584"/>
              </p:ext>
            </p:extLst>
          </p:nvPr>
        </p:nvGraphicFramePr>
        <p:xfrm>
          <a:off x="-795813" y="4774125"/>
          <a:ext cx="5902325" cy="142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</a:t>
                      </a: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8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Mary </a:t>
                      </a:r>
                      <a:r>
                        <a:rPr lang="en-IN" sz="1800" b="1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Navyatha</a:t>
                      </a:r>
                      <a:r>
                        <a:rPr lang="en-IN" sz="18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800" b="1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Govindu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Smart Vehicle Rental System 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1" name="Card 101"/>
          <p:cNvSpPr/>
          <p:nvPr/>
        </p:nvSpPr>
        <p:spPr>
          <a:xfrm>
            <a:off x="609600" y="1450000"/>
            <a:ext cx="5336400" cy="4600000"/>
          </a:xfrm>
          <a:prstGeom prst="roundRect">
            <a:avLst>
              <a:gd name="adj" fmla="val 4000"/>
            </a:avLst>
          </a:prstGeom>
          <a:solidFill>
            <a:srgbClr val="F2F7FC"/>
          </a:solidFill>
          <a:ln>
            <a:noFill/>
          </a:ln>
          <a:effectLst>
            <a:outerShdw blurRad="90000" dist="30000" dir="5400000" rotWithShape="0">
              <a:srgbClr val="000000">
                <a:alpha val="12000"/>
              </a:srgbClr>
            </a:outerShdw>
          </a:effectLst>
        </p:spPr>
        <p:txBody>
          <a:bodyPr wrap="square" lIns="274320" tIns="228600" rIns="274320" bIns="228600" anchor="t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1800" b="1" dirty="0">
                <a:solidFill>
                  <a:srgbClr val="0070C0"/>
                </a:solidFill>
                <a:latin typeface="Times New Roman"/>
                <a:cs typeface="Times New Roman"/>
              </a:rPr>
              <a:t>Traditional Vehicle Rental Systems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b="0" dirty="0">
                <a:solidFill>
                  <a:srgbClr val="404040"/>
                </a:solidFill>
                <a:latin typeface="Times New Roman"/>
                <a:cs typeface="Times New Roman"/>
              </a:rPr>
              <a:t>Monolithic architecture tightly couples user, vehicle, booking, payment and maintenance modules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b="0" dirty="0">
                <a:solidFill>
                  <a:srgbClr val="404040"/>
                </a:solidFill>
                <a:latin typeface="Times New Roman"/>
                <a:cs typeface="Times New Roman"/>
              </a:rPr>
              <a:t>Difficult to develop, maintain, scale and update independently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b="0" dirty="0">
                <a:solidFill>
                  <a:srgbClr val="404040"/>
                </a:solidFill>
                <a:latin typeface="Times New Roman"/>
                <a:cs typeface="Times New Roman"/>
              </a:rPr>
              <a:t>Users struggle to find suitable vehicles and check real-time availability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b="0" dirty="0">
                <a:solidFill>
                  <a:srgbClr val="404040"/>
                </a:solidFill>
                <a:latin typeface="Times New Roman"/>
                <a:cs typeface="Times New Roman"/>
              </a:rPr>
              <a:t>No personalized rental recommendations for users</a:t>
            </a:r>
          </a:p>
        </p:txBody>
      </p:sp>
      <p:sp>
        <p:nvSpPr>
          <p:cNvPr id="102" name="Card 102"/>
          <p:cNvSpPr/>
          <p:nvPr/>
        </p:nvSpPr>
        <p:spPr>
          <a:xfrm>
            <a:off x="6246000" y="1450000"/>
            <a:ext cx="5336400" cy="460000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>
            <a:outerShdw blurRad="90000" dist="30000" dir="5400000" rotWithShape="0">
              <a:srgbClr val="000000">
                <a:alpha val="12000"/>
              </a:srgbClr>
            </a:outerShdw>
          </a:effectLst>
        </p:spPr>
        <p:txBody>
          <a:bodyPr wrap="square" lIns="274320" tIns="228600" rIns="274320" bIns="228600" anchor="t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1800" b="1" dirty="0">
                <a:solidFill>
                  <a:srgbClr val="0070C0"/>
                </a:solidFill>
                <a:latin typeface="Times New Roman"/>
                <a:cs typeface="Times New Roman"/>
              </a:rPr>
              <a:t>Proposed Approach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b="0" dirty="0">
                <a:solidFill>
                  <a:srgbClr val="404040"/>
                </a:solidFill>
                <a:latin typeface="Times New Roman"/>
                <a:cs typeface="Times New Roman"/>
              </a:rPr>
              <a:t>Split the platform into independent, loosely coupled services: User, Vehicle, Booking, Payment, Notification and AI Recommendation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b="0" dirty="0">
                <a:solidFill>
                  <a:srgbClr val="404040"/>
                </a:solidFill>
                <a:latin typeface="Times New Roman"/>
                <a:cs typeface="Times New Roman"/>
              </a:rPr>
              <a:t>Services communicate through well-defined REST APIs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b="0" dirty="0">
                <a:solidFill>
                  <a:srgbClr val="404040"/>
                </a:solidFill>
                <a:latin typeface="Times New Roman"/>
                <a:cs typeface="Times New Roman"/>
              </a:rPr>
              <a:t>Each service can be developed, deployed and scaled independently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b="0" dirty="0">
                <a:solidFill>
                  <a:srgbClr val="404040"/>
                </a:solidFill>
                <a:latin typeface="Times New Roman"/>
                <a:cs typeface="Times New Roman"/>
              </a:rPr>
              <a:t>AI/ML techniques recommend vehicles based on user needs and rental history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b="0" dirty="0">
                <a:solidFill>
                  <a:srgbClr val="404040"/>
                </a:solidFill>
                <a:latin typeface="Times New Roman"/>
                <a:cs typeface="Times New Roman"/>
              </a:rPr>
              <a:t>Multi-branch pickup/return workflow with automated overdue tracking, late-fee billing and vehicle maintenance status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3" name="List 103"/>
          <p:cNvSpPr txBox="1"/>
          <p:nvPr/>
        </p:nvSpPr>
        <p:spPr>
          <a:xfrm>
            <a:off x="800000" y="1450000"/>
            <a:ext cx="525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070C0"/>
                </a:solidFill>
                <a:latin typeface="Times New Roman"/>
                <a:cs typeface="Times New Roman"/>
              </a:rPr>
              <a:t>1. Design a Microservices-based Architecture</a:t>
            </a:r>
          </a:p>
          <a:p>
            <a:pPr marL="34290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04040"/>
                </a:solidFill>
                <a:latin typeface="Times New Roman"/>
                <a:cs typeface="Times New Roman"/>
              </a:rPr>
              <a:t>Decompose the rental platform into independent services (User, Vehicle, Booking, Payment, Notification, AI Recommendation) that communicate via REST APIs.</a:t>
            </a:r>
          </a:p>
          <a:p>
            <a:pPr marL="0" indent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070C0"/>
                </a:solidFill>
                <a:latin typeface="Times New Roman"/>
                <a:cs typeface="Times New Roman"/>
              </a:rPr>
              <a:t>2. Enable Independent Scalability and Maintainability</a:t>
            </a:r>
          </a:p>
          <a:p>
            <a:pPr marL="34290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04040"/>
                </a:solidFill>
                <a:latin typeface="Times New Roman"/>
                <a:cs typeface="Times New Roman"/>
              </a:rPr>
              <a:t>Allow each service to be developed, deployed, updated and scaled independently without affecting the rest of the system.</a:t>
            </a:r>
          </a:p>
          <a:p>
            <a:pPr marL="0" indent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070C0"/>
                </a:solidFill>
                <a:latin typeface="Times New Roman"/>
                <a:cs typeface="Times New Roman"/>
              </a:rPr>
              <a:t>3. Improve Fault Isolation</a:t>
            </a:r>
          </a:p>
          <a:p>
            <a:pPr marL="34290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04040"/>
                </a:solidFill>
                <a:latin typeface="Times New Roman"/>
                <a:cs typeface="Times New Roman"/>
              </a:rPr>
              <a:t>Ensure that a failure in one service does not bring down the entire rental platform.</a:t>
            </a:r>
          </a:p>
        </p:txBody>
      </p:sp>
      <p:sp>
        <p:nvSpPr>
          <p:cNvPr id="104" name="List 104"/>
          <p:cNvSpPr txBox="1"/>
          <p:nvPr/>
        </p:nvSpPr>
        <p:spPr>
          <a:xfrm>
            <a:off x="6250000" y="1450000"/>
            <a:ext cx="5250000" cy="4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070C0"/>
                </a:solidFill>
                <a:latin typeface="Times New Roman"/>
                <a:cs typeface="Times New Roman"/>
              </a:rPr>
              <a:t>4. Simplify Vehicle Discovery</a:t>
            </a:r>
          </a:p>
          <a:p>
            <a:pPr marL="34290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04040"/>
                </a:solidFill>
                <a:latin typeface="Times New Roman"/>
                <a:cs typeface="Times New Roman"/>
              </a:rPr>
              <a:t>Provide users with an organized way to search, filter and view real-time vehicle availability across multiple rental branches.</a:t>
            </a:r>
          </a:p>
          <a:p>
            <a:pPr marL="0" indent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070C0"/>
                </a:solidFill>
                <a:latin typeface="Times New Roman"/>
                <a:cs typeface="Times New Roman"/>
              </a:rPr>
              <a:t>5. Deliver AI-Powered Recommendations</a:t>
            </a:r>
          </a:p>
          <a:p>
            <a:pPr marL="34290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04040"/>
                </a:solidFill>
                <a:latin typeface="Times New Roman"/>
                <a:cs typeface="Times New Roman"/>
              </a:rPr>
              <a:t>Use AI/ML techniques to recommend suitable vehicles based on user preferences, budget and rental history.</a:t>
            </a:r>
          </a:p>
          <a:p>
            <a:pPr marL="0" indent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070C0"/>
                </a:solidFill>
                <a:latin typeface="Times New Roman"/>
                <a:cs typeface="Times New Roman"/>
              </a:rPr>
              <a:t>6. Enhance Overall User Experience</a:t>
            </a:r>
          </a:p>
          <a:p>
            <a:pPr marL="34290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04040"/>
                </a:solidFill>
                <a:latin typeface="Times New Roman"/>
                <a:cs typeface="Times New Roman"/>
              </a:rPr>
              <a:t>Automate the full rental lifecycle — booking, payment, branch handover, return, late-fee billing and post-rental reviews — for a smoother, more reliable experience.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58064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2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Authors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Title of the Paper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Inferences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 / Future Work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Semmahi (2023)</a:t>
                      </a:r>
                    </a:p>
                  </a:txBody>
                  <a:tcPr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CarBy: Car Rental Booking System Using Microservices Architecture</a:t>
                      </a:r>
                    </a:p>
                  </a:txBody>
                  <a:tcPr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Java Spring Boot microservices for auth, cars, bookings</a:t>
                      </a:r>
                    </a:p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Angular frontend, PostgreSQL database</a:t>
                      </a:r>
                    </a:p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Nginx API gateway, JWT-based authentication</a:t>
                      </a:r>
                    </a:p>
                  </a:txBody>
                  <a:tcPr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Modular services allowed independent updates and scaling</a:t>
                      </a:r>
                    </a:p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Case study showed Hertz's move to microservices cut time-to-market and improved reliability</a:t>
                      </a:r>
                    </a:p>
                  </a:txBody>
                  <a:tcPr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Payment and notification services left for future work</a:t>
                      </a:r>
                    </a:p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No AI-based recommendation capability; single-developer scope</a:t>
                      </a:r>
                    </a:p>
                  </a:txBody>
                  <a:tcPr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B w="6350">
                      <a:solidFill>
                        <a:srgbClr val="BFBFB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SPIE Conf. Proc. (2024)</a:t>
                      </a:r>
                    </a:p>
                  </a:txBody>
                  <a:tcPr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Car Rental System Based on Spring Boot</a:t>
                      </a:r>
                    </a:p>
                  </a:txBody>
                  <a:tcPr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Modular Spring MVC architecture with RESTful APIs</a:t>
                      </a:r>
                    </a:p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Separate front-end (Angular/Vue) and back-end layers</a:t>
                      </a:r>
                    </a:p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Relational tables for vehicles, users, orders and admins</a:t>
                      </a:r>
                    </a:p>
                  </a:txBody>
                  <a:tcPr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Clear front/back-end separation improved code scalability and stability</a:t>
                      </a:r>
                    </a:p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Microservices and continuous integration concepts kept the codebase maintainable</a:t>
                      </a:r>
                    </a:p>
                  </a:txBody>
                  <a:tcPr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Limited discussion of AI-driven personalization or recommendations</a:t>
                      </a:r>
                    </a:p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Focus stays on core CRUD booking flow, not intelligent features</a:t>
                      </a:r>
                    </a:p>
                  </a:txBody>
                  <a:tcPr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ResearchGate (2025)</a:t>
                      </a:r>
                    </a:p>
                  </a:txBody>
                  <a:tcPr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Enhancing Vehicle Rentals with AI: An Autonomous Deep Learning Framework</a:t>
                      </a:r>
                    </a:p>
                  </a:txBody>
                  <a:tcPr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Deep-learning OCR for vehicle registration validation</a:t>
                      </a:r>
                    </a:p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Personalized recommendation and predictive-analytics modules</a:t>
                      </a:r>
                    </a:p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Microservices architecture for agile feature integration</a:t>
                      </a:r>
                    </a:p>
                  </a:txBody>
                  <a:tcPr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Microservices enabled quick expansion of new AI features</a:t>
                      </a:r>
                    </a:p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OCR-based validation reliably separated authentic from invalid registrations</a:t>
                      </a:r>
                    </a:p>
                  </a:txBody>
                  <a:tcPr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Demand-forecasting and predictive analytics need further development</a:t>
                      </a:r>
                    </a:p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Limited detail on production-scale deployment and load testing</a:t>
                      </a:r>
                    </a:p>
                  </a:txBody>
                  <a:tcPr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Springer Nature (2024)</a:t>
                      </a:r>
                    </a:p>
                  </a:txBody>
                  <a:tcPr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Machine Learning-Powered Car Recommendation System: A Content-Based and Collaborative Approach</a:t>
                      </a:r>
                    </a:p>
                  </a:txBody>
                  <a:tcPr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Content-based filtering combined with item-item collaborative filtering</a:t>
                      </a:r>
                    </a:p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Multiclass random forest compared against neural network, logistic regression and SVM</a:t>
                      </a:r>
                    </a:p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Natural-language user input for preference capture</a:t>
                      </a:r>
                    </a:p>
                  </a:txBody>
                  <a:tcPr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Hybrid random-forest approach outperformed neural network and other baseline classifiers</a:t>
                      </a:r>
                    </a:p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Natural-language preference input improved personalization quality</a:t>
                      </a:r>
                    </a:p>
                  </a:txBody>
                  <a:tcPr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Built for car purchase decisions rather than short-term rental</a:t>
                      </a:r>
                    </a:p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Does not address real-time inventory or availability constraints</a:t>
                      </a:r>
                    </a:p>
                  </a:txBody>
                  <a:tcPr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Kumar et al.</a:t>
                      </a:r>
                    </a:p>
                  </a:txBody>
                  <a:tcPr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The Design of Web-Based Car Recommendation System Using Hybrid Recommender Algorithm</a:t>
                      </a:r>
                    </a:p>
                  </a:txBody>
                  <a:tcPr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Hybrid recommender combining collaborative and knowledge-based filtering</a:t>
                      </a:r>
                    </a:p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Web-based system guiding customers through vehicle selection</a:t>
                      </a:r>
                    </a:p>
                  </a:txBody>
                  <a:tcPr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Hybrid filtering produced better personalized suggestions than either technique used alone</a:t>
                      </a:r>
                    </a:p>
                  </a:txBody>
                  <a:tcPr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No integration with SOA/microservices-based booking platforms</a:t>
                      </a:r>
                    </a:p>
                    <a:p>
                      <a:pPr marL="171450" indent="-171450">
                        <a:buFont typeface="Arial"/>
                        <a:buChar char="•"/>
                      </a:pPr>
                      <a:r>
                        <a:rPr lang="en-US" sz="1100" dirty="0">
                          <a:latin typeface="Times New Roman"/>
                          <a:cs typeface="Times New Roman"/>
                        </a:rPr>
                        <a:t>Scope limited to the recommendation module only</a:t>
                      </a:r>
                    </a:p>
                  </a:txBody>
                  <a:tcPr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609600" y="600078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5" name="Card 105"/>
          <p:cNvSpPr/>
          <p:nvPr/>
        </p:nvSpPr>
        <p:spPr>
          <a:xfrm>
            <a:off x="609600" y="1600000"/>
            <a:ext cx="5336400" cy="4400000"/>
          </a:xfrm>
          <a:prstGeom prst="roundRect">
            <a:avLst>
              <a:gd name="adj" fmla="val 4000"/>
            </a:avLst>
          </a:prstGeom>
          <a:solidFill>
            <a:srgbClr val="F2F7FC"/>
          </a:solidFill>
          <a:ln>
            <a:noFill/>
          </a:ln>
          <a:effectLst>
            <a:outerShdw blurRad="90000" dist="30000" dir="5400000" rotWithShape="0">
              <a:srgbClr val="000000">
                <a:alpha val="12000"/>
              </a:srgbClr>
            </a:outerShdw>
          </a:effectLst>
        </p:spPr>
        <p:txBody>
          <a:bodyPr wrap="square" lIns="274320" tIns="228600" rIns="274320" bIns="228600" anchor="t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1800" b="1" dirty="0">
                <a:solidFill>
                  <a:srgbClr val="0070C0"/>
                </a:solidFill>
                <a:latin typeface="Times New Roman"/>
                <a:cs typeface="Times New Roman"/>
              </a:rPr>
              <a:t>Gaps in Existing Systems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600" b="0" dirty="0">
                <a:solidFill>
                  <a:srgbClr val="404040"/>
                </a:solidFill>
                <a:latin typeface="Times New Roman"/>
                <a:cs typeface="Times New Roman"/>
              </a:rPr>
              <a:t>Monolithic design causes a single point of failure across all rental operations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600" b="0" dirty="0">
                <a:solidFill>
                  <a:srgbClr val="404040"/>
                </a:solidFill>
                <a:latin typeface="Times New Roman"/>
                <a:cs typeface="Times New Roman"/>
              </a:rPr>
              <a:t>Independent scaling of high-demand modules (e.g. booking) is not possible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600" b="0" dirty="0">
                <a:solidFill>
                  <a:srgbClr val="404040"/>
                </a:solidFill>
                <a:latin typeface="Times New Roman"/>
                <a:cs typeface="Times New Roman"/>
              </a:rPr>
              <a:t>No intelligent, data-driven vehicle recommendation for users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600" b="0" dirty="0">
                <a:solidFill>
                  <a:srgbClr val="404040"/>
                </a:solidFill>
                <a:latin typeface="Times New Roman"/>
                <a:cs typeface="Times New Roman"/>
              </a:rPr>
              <a:t>Updates to one module require redeploying the entire application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600" b="0" dirty="0">
                <a:solidFill>
                  <a:srgbClr val="404040"/>
                </a:solidFill>
                <a:latin typeface="Times New Roman"/>
                <a:cs typeface="Times New Roman"/>
              </a:rPr>
              <a:t>No branch-level inventory visibility or vehicle lifecycle tracking (handover, overdue returns, maintenance)</a:t>
            </a:r>
          </a:p>
        </p:txBody>
      </p:sp>
      <p:sp>
        <p:nvSpPr>
          <p:cNvPr id="106" name="Card 106"/>
          <p:cNvSpPr/>
          <p:nvPr/>
        </p:nvSpPr>
        <p:spPr>
          <a:xfrm>
            <a:off x="6246000" y="1600000"/>
            <a:ext cx="5336400" cy="440000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>
            <a:outerShdw blurRad="90000" dist="30000" dir="5400000" rotWithShape="0">
              <a:srgbClr val="000000">
                <a:alpha val="12000"/>
              </a:srgbClr>
            </a:outerShdw>
          </a:effectLst>
        </p:spPr>
        <p:txBody>
          <a:bodyPr wrap="square" lIns="274320" tIns="228600" rIns="274320" bIns="228600" anchor="t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1800" b="1" dirty="0">
                <a:solidFill>
                  <a:srgbClr val="0070C0"/>
                </a:solidFill>
                <a:latin typeface="Times New Roman"/>
                <a:cs typeface="Times New Roman"/>
              </a:rPr>
              <a:t>How the Proposed System Addresses These Gaps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600" b="0" dirty="0">
                <a:solidFill>
                  <a:srgbClr val="404040"/>
                </a:solidFill>
                <a:latin typeface="Times New Roman"/>
                <a:cs typeface="Times New Roman"/>
              </a:rPr>
              <a:t>Loosely coupled microservices isolate failures to a single service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600" b="0" dirty="0">
                <a:solidFill>
                  <a:srgbClr val="404040"/>
                </a:solidFill>
                <a:latin typeface="Times New Roman"/>
                <a:cs typeface="Times New Roman"/>
              </a:rPr>
              <a:t>Each service (Booking, Payment, AI Recommendation, etc.) scales independently based on demand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600" b="0" dirty="0">
                <a:solidFill>
                  <a:srgbClr val="404040"/>
                </a:solidFill>
                <a:latin typeface="Times New Roman"/>
                <a:cs typeface="Times New Roman"/>
              </a:rPr>
              <a:t>AI Recommendation service personalizes vehicle suggestions using historical rental data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600" b="0" dirty="0">
                <a:solidFill>
                  <a:srgbClr val="404040"/>
                </a:solidFill>
                <a:latin typeface="Times New Roman"/>
                <a:cs typeface="Times New Roman"/>
              </a:rPr>
              <a:t>Independent deployment pipelines allow faster, safer updates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600" b="0" dirty="0">
                <a:solidFill>
                  <a:srgbClr val="404040"/>
                </a:solidFill>
                <a:latin typeface="Times New Roman"/>
                <a:cs typeface="Times New Roman"/>
              </a:rPr>
              <a:t>Branch management, handover/return tracking and a scheduled overdue sweep give full vehicle lifecycle visibility with automated late-fee billing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609600" y="567351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7" name="List 107"/>
          <p:cNvSpPr txBox="1"/>
          <p:nvPr/>
        </p:nvSpPr>
        <p:spPr>
          <a:xfrm>
            <a:off x="800000" y="1500000"/>
            <a:ext cx="5250000" cy="4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070C0"/>
                </a:solidFill>
                <a:latin typeface="Times New Roman"/>
                <a:cs typeface="Times New Roman"/>
              </a:rPr>
              <a:t>1. AI-Driven Personalized Recommendations</a:t>
            </a:r>
          </a:p>
          <a:p>
            <a:pPr marL="34290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04040"/>
                </a:solidFill>
                <a:latin typeface="Times New Roman"/>
                <a:cs typeface="Times New Roman"/>
              </a:rPr>
              <a:t>Vehicle suggestions are generated using AI/ML models trained on user preferences, budget and historical rental behavior, rather than static search filters.</a:t>
            </a:r>
          </a:p>
          <a:p>
            <a:pPr marL="0" indent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070C0"/>
                </a:solidFill>
                <a:latin typeface="Times New Roman"/>
                <a:cs typeface="Times New Roman"/>
              </a:rPr>
              <a:t>2. Service-Oriented and Microservices Architecture</a:t>
            </a:r>
          </a:p>
          <a:p>
            <a:pPr marL="34290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404040"/>
                </a:solidFill>
                <a:latin typeface="Times New Roman"/>
                <a:cs typeface="Times New Roman"/>
              </a:rPr>
              <a:t>User, Vehicle, Booking, Payment, Notification and AI Recommendation are built as independent services communicating through REST APIs — Vehicle now also owns branch and review management, Booking owns the full handover-to-return lifecycle.</a:t>
            </a:r>
          </a:p>
        </p:txBody>
      </p:sp>
      <p:sp>
        <p:nvSpPr>
          <p:cNvPr id="108" name="List 108"/>
          <p:cNvSpPr txBox="1"/>
          <p:nvPr/>
        </p:nvSpPr>
        <p:spPr>
          <a:xfrm>
            <a:off x="6250000" y="1500000"/>
            <a:ext cx="5250000" cy="47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070C0"/>
                </a:solidFill>
                <a:latin typeface="Times New Roman"/>
                <a:cs typeface="Times New Roman"/>
              </a:rPr>
              <a:t>3. Independent Scalability and Fault Isolation</a:t>
            </a:r>
          </a:p>
          <a:p>
            <a:pPr marL="34290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04040"/>
                </a:solidFill>
                <a:latin typeface="Times New Roman"/>
                <a:cs typeface="Times New Roman"/>
              </a:rPr>
              <a:t>High-demand services can be scaled on their own, and a failure in one service does not affect the rest of the platform</a:t>
            </a:r>
            <a:r>
              <a:rPr lang="en-US" sz="130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</a:p>
          <a:p>
            <a:pPr marL="0" indent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070C0"/>
                </a:solidFill>
                <a:latin typeface="Times New Roman"/>
                <a:cs typeface="Times New Roman"/>
              </a:rPr>
              <a:t>4. Extensible Intelligence Layer</a:t>
            </a:r>
          </a:p>
          <a:p>
            <a:pPr marL="34290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04040"/>
                </a:solidFill>
                <a:latin typeface="Times New Roman"/>
                <a:cs typeface="Times New Roman"/>
              </a:rPr>
              <a:t>The AI service can be extended to support demand prediction and dynamic, intelligent pricing in the future.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609600" y="551058"/>
            <a:ext cx="10972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01" name="Feasibility Text"/>
          <p:cNvSpPr txBox="1"/>
          <p:nvPr/>
        </p:nvSpPr>
        <p:spPr>
          <a:xfrm>
            <a:off x="800000" y="1500000"/>
            <a:ext cx="10592000" cy="19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b="0" dirty="0">
                <a:solidFill>
                  <a:srgbClr val="404040"/>
                </a:solidFill>
                <a:latin typeface="Times New Roman"/>
                <a:cs typeface="Times New Roman"/>
              </a:rPr>
              <a:t>Technical Feasibility: Implemented using Java, Spring Boot and Spring Cloud for microservices, REST APIs for communication and MySQL for persistent storage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b="0" dirty="0">
                <a:solidFill>
                  <a:srgbClr val="404040"/>
                </a:solidFill>
                <a:latin typeface="Times New Roman"/>
                <a:cs typeface="Times New Roman"/>
              </a:rPr>
              <a:t>Operational Feasibility: Independent services allow the team to develop, test and deploy modules such as Booking or Payment without disturbing others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b="0" dirty="0">
                <a:solidFill>
                  <a:srgbClr val="404040"/>
                </a:solidFill>
                <a:latin typeface="Times New Roman"/>
                <a:cs typeface="Times New Roman"/>
              </a:rPr>
              <a:t>AI Feasibility: A recommendation model can be trained on sample rental and user preference data using standard ML libraries and served via its own microservice</a:t>
            </a:r>
          </a:p>
        </p:txBody>
      </p:sp>
      <p:sp>
        <p:nvSpPr>
          <p:cNvPr id="210" name="Timeline Label"/>
          <p:cNvSpPr txBox="1"/>
          <p:nvPr/>
        </p:nvSpPr>
        <p:spPr>
          <a:xfrm>
            <a:off x="800000" y="3450000"/>
            <a:ext cx="6000000" cy="4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600" b="1" dirty="0">
                <a:solidFill>
                  <a:srgbClr val="0070C0"/>
                </a:solidFill>
                <a:latin typeface="Times New Roman"/>
                <a:cs typeface="Times New Roman"/>
              </a:rPr>
              <a:t>Project Timeline (Phase-wise Plan)</a:t>
            </a:r>
          </a:p>
        </p:txBody>
      </p:sp>
      <p:sp>
        <p:nvSpPr>
          <p:cNvPr id="211" name="Phase 211"/>
          <p:cNvSpPr/>
          <p:nvPr/>
        </p:nvSpPr>
        <p:spPr>
          <a:xfrm>
            <a:off x="700000" y="3900000"/>
            <a:ext cx="1750000" cy="120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Phase 1</a:t>
            </a:r>
          </a:p>
          <a:p>
            <a:pPr algn="ct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/>
                <a:cs typeface="Times New Roman"/>
              </a:rPr>
              <a:t>Requirement Analysis &amp; Design</a:t>
            </a:r>
          </a:p>
        </p:txBody>
      </p:sp>
      <p:sp>
        <p:nvSpPr>
          <p:cNvPr id="212" name="Arrow 212"/>
          <p:cNvSpPr/>
          <p:nvPr/>
        </p:nvSpPr>
        <p:spPr>
          <a:xfrm>
            <a:off x="2555250" y="4350000"/>
            <a:ext cx="510500" cy="30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3" name="Phase 213"/>
          <p:cNvSpPr/>
          <p:nvPr/>
        </p:nvSpPr>
        <p:spPr>
          <a:xfrm>
            <a:off x="2960500" y="3900000"/>
            <a:ext cx="1750000" cy="1200000"/>
          </a:xfrm>
          <a:prstGeom prst="roundRect">
            <a:avLst>
              <a:gd name="adj" fmla="val 8000"/>
            </a:avLst>
          </a:prstGeom>
          <a:solidFill>
            <a:srgbClr val="1F8FE0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Phase 2</a:t>
            </a:r>
          </a:p>
          <a:p>
            <a:pPr algn="ct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/>
                <a:cs typeface="Times New Roman"/>
              </a:rPr>
              <a:t>Core Services Development
(User, Vehicle, Booking, Branches)</a:t>
            </a:r>
          </a:p>
        </p:txBody>
      </p:sp>
      <p:sp>
        <p:nvSpPr>
          <p:cNvPr id="214" name="Arrow 214"/>
          <p:cNvSpPr/>
          <p:nvPr/>
        </p:nvSpPr>
        <p:spPr>
          <a:xfrm>
            <a:off x="4815750" y="4350000"/>
            <a:ext cx="510500" cy="30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5" name="Phase 215"/>
          <p:cNvSpPr/>
          <p:nvPr/>
        </p:nvSpPr>
        <p:spPr>
          <a:xfrm>
            <a:off x="5221000" y="3900000"/>
            <a:ext cx="1750000" cy="120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Phase 3</a:t>
            </a:r>
          </a:p>
          <a:p>
            <a:pPr algn="ct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/>
                <a:cs typeface="Times New Roman"/>
              </a:rPr>
              <a:t>Payment, Notification
&amp; Late-Fee Billing</a:t>
            </a:r>
          </a:p>
        </p:txBody>
      </p:sp>
      <p:sp>
        <p:nvSpPr>
          <p:cNvPr id="216" name="Arrow 216"/>
          <p:cNvSpPr/>
          <p:nvPr/>
        </p:nvSpPr>
        <p:spPr>
          <a:xfrm>
            <a:off x="7076250" y="4350000"/>
            <a:ext cx="510500" cy="30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7" name="Phase 217"/>
          <p:cNvSpPr/>
          <p:nvPr/>
        </p:nvSpPr>
        <p:spPr>
          <a:xfrm>
            <a:off x="7481500" y="3900000"/>
            <a:ext cx="1750000" cy="1200000"/>
          </a:xfrm>
          <a:prstGeom prst="roundRect">
            <a:avLst>
              <a:gd name="adj" fmla="val 8000"/>
            </a:avLst>
          </a:prstGeom>
          <a:solidFill>
            <a:srgbClr val="1F8FE0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Phase 4</a:t>
            </a:r>
          </a:p>
          <a:p>
            <a:pPr algn="ct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/>
                <a:cs typeface="Times New Roman"/>
              </a:rPr>
              <a:t>AI Recommendation
Engine</a:t>
            </a:r>
          </a:p>
        </p:txBody>
      </p:sp>
      <p:sp>
        <p:nvSpPr>
          <p:cNvPr id="218" name="Arrow 218"/>
          <p:cNvSpPr/>
          <p:nvPr/>
        </p:nvSpPr>
        <p:spPr>
          <a:xfrm>
            <a:off x="9336750" y="4350000"/>
            <a:ext cx="510500" cy="30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9" name="Phase 219"/>
          <p:cNvSpPr/>
          <p:nvPr/>
        </p:nvSpPr>
        <p:spPr>
          <a:xfrm>
            <a:off x="9742000" y="3900000"/>
            <a:ext cx="1750000" cy="120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Aft>
                <a:spcPts val="200"/>
              </a:spcAft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Phase 5</a:t>
            </a:r>
          </a:p>
          <a:p>
            <a:pPr algn="ctr">
              <a:buNone/>
            </a:pPr>
            <a:r>
              <a:rPr lang="en-US" sz="1000" dirty="0">
                <a:solidFill>
                  <a:srgbClr val="FFFFFF"/>
                </a:solidFill>
                <a:latin typeface="Times New Roman"/>
                <a:cs typeface="Times New Roman"/>
              </a:rPr>
              <a:t>Integration, Testing
&amp; Deployment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1032</Words>
  <Application>Microsoft Office PowerPoint</Application>
  <PresentationFormat>Widescreen</PresentationFormat>
  <Paragraphs>156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Calibri Light</vt:lpstr>
      <vt:lpstr>Cambria</vt:lpstr>
      <vt:lpstr>Poppins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srikanth ch</dc:creator>
  <cp:lastModifiedBy>saikumar kompally</cp:lastModifiedBy>
  <cp:revision>38</cp:revision>
  <dcterms:created xsi:type="dcterms:W3CDTF">2026-08-08T06:33:56Z</dcterms:created>
  <dcterms:modified xsi:type="dcterms:W3CDTF">2026-08-28T04:18:54Z</dcterms:modified>
</cp:coreProperties>
</file>